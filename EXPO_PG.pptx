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06" r:id="rId2"/>
    <p:sldId id="408" r:id="rId3"/>
    <p:sldId id="411" r:id="rId4"/>
    <p:sldId id="412" r:id="rId5"/>
    <p:sldId id="407" r:id="rId6"/>
    <p:sldId id="285" r:id="rId7"/>
  </p:sldIdLst>
  <p:sldSz cx="12192000" cy="6858000"/>
  <p:notesSz cx="12192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19E0E-1715-4D25-AF84-F2F1526FA3FC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99AC9-6F58-434E-9C69-53E104BF38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794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9AC9-6F58-434E-9C69-53E104BF383A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992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9AC9-6F58-434E-9C69-53E104BF383A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5853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032503" y="358140"/>
            <a:ext cx="4367784" cy="894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34662" y="477138"/>
            <a:ext cx="4122674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672840" y="473963"/>
            <a:ext cx="4367784" cy="894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4662" y="477138"/>
            <a:ext cx="4122674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583" y="1447038"/>
            <a:ext cx="11132185" cy="1953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971800" y="319232"/>
            <a:ext cx="6656833" cy="40011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MODALIDAD DE GRADO</a:t>
            </a: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B89E5A-8C41-43B8-B9AE-999733F99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640"/>
            <a:ext cx="12220542" cy="6877639"/>
          </a:xfrm>
          <a:prstGeom prst="rect">
            <a:avLst/>
          </a:prstGeom>
        </p:spPr>
      </p:pic>
      <p:sp>
        <p:nvSpPr>
          <p:cNvPr id="335" name="Texto 335"/>
          <p:cNvSpPr txBox="1"/>
          <p:nvPr/>
        </p:nvSpPr>
        <p:spPr>
          <a:xfrm>
            <a:off x="700000" y="4780000"/>
            <a:ext cx="60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INTELIGENCIA ARTIFICIAL COLABORATIVA BASADO EN MODELOS DE LENGUAJE PARA LA CODIFICACIÓN CLÍNICA Y LA AUDITORÍA AUTOMÁTICA DE CUENTAS MÉDICAS EN IPS DE VALLEDUPAR</a:t>
            </a:r>
          </a:p>
        </p:txBody>
      </p:sp>
      <p:cxnSp>
        <p:nvCxnSpPr>
          <p:cNvPr id="336" name="Línea 336"/>
          <p:cNvCxnSpPr/>
          <p:nvPr/>
        </p:nvCxnSpPr>
        <p:spPr>
          <a:xfrm>
            <a:off x="713317" y="5683845"/>
            <a:ext cx="2480000" cy="0"/>
          </a:xfrm>
          <a:prstGeom prst="line">
            <a:avLst/>
          </a:prstGeom>
          <a:ln w="25400">
            <a:solidFill>
              <a:srgbClr val="F7B32B"/>
            </a:solidFill>
          </a:ln>
        </p:spPr>
      </p:cxnSp>
      <p:sp>
        <p:nvSpPr>
          <p:cNvPr id="337" name="Texto 337"/>
          <p:cNvSpPr txBox="1"/>
          <p:nvPr/>
        </p:nvSpPr>
        <p:spPr>
          <a:xfrm>
            <a:off x="700000" y="5688000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i="0" dirty="0">
                <a:solidFill>
                  <a:srgbClr val="F7B32B"/>
                </a:solidFill>
                <a:latin typeface="Arial"/>
                <a:cs typeface="Arial"/>
              </a:rPr>
              <a:t>AUTORES   </a:t>
            </a:r>
            <a:r>
              <a:rPr lang="es-CO" sz="1050" b="0" i="0" dirty="0">
                <a:solidFill>
                  <a:srgbClr val="FFFFFF"/>
                </a:solidFill>
                <a:latin typeface="Arial"/>
                <a:cs typeface="Arial"/>
              </a:rPr>
              <a:t>Cristal Ariza Martínez · David José Payares Guarnizo</a:t>
            </a:r>
          </a:p>
        </p:txBody>
      </p:sp>
      <p:sp>
        <p:nvSpPr>
          <p:cNvPr id="338" name="Texto 338"/>
          <p:cNvSpPr txBox="1"/>
          <p:nvPr/>
        </p:nvSpPr>
        <p:spPr>
          <a:xfrm>
            <a:off x="700000" y="5897068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i="0" dirty="0">
                <a:solidFill>
                  <a:srgbClr val="F7B32B"/>
                </a:solidFill>
                <a:latin typeface="Arial"/>
                <a:cs typeface="Arial"/>
              </a:rPr>
              <a:t>LÍNEA DE INVESTIGACIÓN   </a:t>
            </a:r>
            <a:r>
              <a:rPr lang="es-CO" sz="1050" b="0" i="0" dirty="0">
                <a:solidFill>
                  <a:srgbClr val="FFFFFF"/>
                </a:solidFill>
                <a:latin typeface="Arial"/>
                <a:cs typeface="Arial"/>
              </a:rPr>
              <a:t>Transformación digital</a:t>
            </a:r>
          </a:p>
        </p:txBody>
      </p:sp>
      <p:sp>
        <p:nvSpPr>
          <p:cNvPr id="339" name="Texto 339"/>
          <p:cNvSpPr txBox="1"/>
          <p:nvPr/>
        </p:nvSpPr>
        <p:spPr>
          <a:xfrm>
            <a:off x="700000" y="6106000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i="0" dirty="0">
                <a:solidFill>
                  <a:srgbClr val="F7B32B"/>
                </a:solidFill>
                <a:latin typeface="Arial"/>
                <a:cs typeface="Arial"/>
              </a:rPr>
              <a:t>SUBLÍNEA   </a:t>
            </a:r>
            <a:r>
              <a:rPr lang="es-CO" sz="1050" b="0" i="0" dirty="0">
                <a:solidFill>
                  <a:srgbClr val="FFFFFF"/>
                </a:solidFill>
                <a:latin typeface="Arial"/>
                <a:cs typeface="Arial"/>
              </a:rPr>
              <a:t>Inteligencia artificial</a:t>
            </a:r>
          </a:p>
        </p:txBody>
      </p:sp>
      <p:sp>
        <p:nvSpPr>
          <p:cNvPr id="340" name="Texto 340"/>
          <p:cNvSpPr txBox="1"/>
          <p:nvPr/>
        </p:nvSpPr>
        <p:spPr>
          <a:xfrm>
            <a:off x="713317" y="6315068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i="0" dirty="0">
                <a:solidFill>
                  <a:srgbClr val="F7B32B"/>
                </a:solidFill>
                <a:latin typeface="Arial"/>
                <a:cs typeface="Arial"/>
              </a:rPr>
              <a:t>TUTOR   </a:t>
            </a:r>
            <a:r>
              <a:rPr lang="es-CO" sz="1050" b="0" i="0" dirty="0">
                <a:solidFill>
                  <a:srgbClr val="FFFFFF"/>
                </a:solidFill>
                <a:latin typeface="Arial"/>
                <a:cs typeface="Arial"/>
              </a:rPr>
              <a:t>Por asignar</a:t>
            </a:r>
          </a:p>
        </p:txBody>
      </p:sp>
    </p:spTree>
    <p:extLst>
      <p:ext uri="{BB962C8B-B14F-4D97-AF65-F5344CB8AC3E}">
        <p14:creationId xmlns:p14="http://schemas.microsoft.com/office/powerpoint/2010/main" val="109607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971800" y="319232"/>
            <a:ext cx="6656833" cy="40011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MODALIDAD DE GRADO</a:t>
            </a: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Texto 193"/>
          <p:cNvSpPr txBox="1"/>
          <p:nvPr/>
        </p:nvSpPr>
        <p:spPr>
          <a:xfrm>
            <a:off x="850000" y="980000"/>
            <a:ext cx="10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dirty="0">
                <a:solidFill>
                  <a:srgbClr val="0B6DAE"/>
                </a:solidFill>
                <a:latin typeface="Arial"/>
                <a:cs typeface="Arial"/>
              </a:rPr>
              <a:t>PROPUESTA</a:t>
            </a:r>
          </a:p>
        </p:txBody>
      </p:sp>
      <p:sp>
        <p:nvSpPr>
          <p:cNvPr id="194" name="Texto 194"/>
          <p:cNvSpPr txBox="1"/>
          <p:nvPr/>
        </p:nvSpPr>
        <p:spPr>
          <a:xfrm>
            <a:off x="815000" y="1537999"/>
            <a:ext cx="615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1100" b="1" i="0" dirty="0">
                <a:solidFill>
                  <a:srgbClr val="2B2D42"/>
                </a:solidFill>
                <a:latin typeface="Arial"/>
                <a:cs typeface="Arial"/>
              </a:rPr>
              <a:t>CÓMO FUNCIONA: </a:t>
            </a:r>
            <a:r>
              <a:rPr lang="es-CO" sz="1100" b="1" i="1" dirty="0">
                <a:solidFill>
                  <a:srgbClr val="2B2D42"/>
                </a:solidFill>
                <a:latin typeface="Arial"/>
                <a:cs typeface="Arial"/>
              </a:rPr>
              <a:t>Flujo de codificación y auditoría de una cuenta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1" dirty="0">
                <a:latin typeface="Arial"/>
                <a:cs typeface="Arial"/>
              </a:rPr>
              <a:t>Sigue el proceso de cobro de una IPS: historia clínica, códigos CIE-10 y CUPS, factura y revisión de la EPS (Resolución 2284 de 2023). Es la misma secuencia de Dai et al. (2024), que codifican dentro del flujo del hospital, y de Jadoon et al. (2026), que revisan la cuenta antes de radicarla.</a:t>
            </a:r>
          </a:p>
        </p:txBody>
      </p:sp>
      <p:sp>
        <p:nvSpPr>
          <p:cNvPr id="195" name="Forma 195"/>
          <p:cNvSpPr/>
          <p:nvPr/>
        </p:nvSpPr>
        <p:spPr>
          <a:xfrm>
            <a:off x="850000" y="2400000"/>
            <a:ext cx="1640000" cy="500000"/>
          </a:xfrm>
          <a:prstGeom prst="homePlate">
            <a:avLst>
              <a:gd name="adj" fmla="val 32000"/>
            </a:avLst>
          </a:prstGeom>
          <a:gradFill rotWithShape="1">
            <a:gsLst>
              <a:gs pos="0">
                <a:srgbClr val="3CB3C1"/>
              </a:gs>
              <a:gs pos="100000">
                <a:srgbClr val="1AA6B7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96" name="Imagen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2490000"/>
            <a:ext cx="320000" cy="320000"/>
          </a:xfrm>
          <a:prstGeom prst="rect">
            <a:avLst/>
          </a:prstGeom>
        </p:spPr>
      </p:pic>
      <p:sp>
        <p:nvSpPr>
          <p:cNvPr id="197" name="Texto 197"/>
          <p:cNvSpPr txBox="1"/>
          <p:nvPr/>
        </p:nvSpPr>
        <p:spPr>
          <a:xfrm>
            <a:off x="870000" y="2950000"/>
            <a:ext cx="150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950" b="1" i="0" dirty="0">
                <a:solidFill>
                  <a:srgbClr val="1AA6B7"/>
                </a:solidFill>
                <a:latin typeface="Arial"/>
                <a:cs typeface="Arial"/>
              </a:rPr>
              <a:t>01 </a:t>
            </a: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Historia clínica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Lee el texto clínico (notas de egreso)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1AA6B7"/>
                </a:solidFill>
                <a:latin typeface="Arial"/>
                <a:cs typeface="Arial"/>
              </a:rPr>
              <a:t>Chen et al. (2022)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latin typeface="Arial"/>
                <a:cs typeface="Arial"/>
              </a:rPr>
              <a:t>JMIR Medical Informatics</a:t>
            </a:r>
          </a:p>
        </p:txBody>
      </p:sp>
      <p:sp>
        <p:nvSpPr>
          <p:cNvPr id="198" name="Forma 198"/>
          <p:cNvSpPr/>
          <p:nvPr/>
        </p:nvSpPr>
        <p:spPr>
          <a:xfrm>
            <a:off x="2370000" y="2400000"/>
            <a:ext cx="1640000" cy="500000"/>
          </a:xfrm>
          <a:prstGeom prst="chevron">
            <a:avLst>
              <a:gd name="adj" fmla="val 32000"/>
            </a:avLst>
          </a:prstGeom>
          <a:gradFill rotWithShape="1">
            <a:gsLst>
              <a:gs pos="0">
                <a:srgbClr val="8E66B3"/>
              </a:gs>
              <a:gs pos="100000">
                <a:srgbClr val="7B4BA6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99" name="Imagen 1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000" y="2490000"/>
            <a:ext cx="320000" cy="320000"/>
          </a:xfrm>
          <a:prstGeom prst="rect">
            <a:avLst/>
          </a:prstGeom>
        </p:spPr>
      </p:pic>
      <p:sp>
        <p:nvSpPr>
          <p:cNvPr id="200" name="Texto 200"/>
          <p:cNvSpPr txBox="1"/>
          <p:nvPr/>
        </p:nvSpPr>
        <p:spPr>
          <a:xfrm>
            <a:off x="2390000" y="2950000"/>
            <a:ext cx="150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950" b="1" i="0" dirty="0">
                <a:solidFill>
                  <a:srgbClr val="7B4BA6"/>
                </a:solidFill>
                <a:latin typeface="Arial"/>
                <a:cs typeface="Arial"/>
              </a:rPr>
              <a:t>02 </a:t>
            </a: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Codificación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Propone CIE-10 y CUPS con BERT en español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7B4BA6"/>
                </a:solidFill>
                <a:latin typeface="Arial"/>
                <a:cs typeface="Arial"/>
              </a:rPr>
              <a:t>López-García et al. (2021)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i="1" dirty="0">
                <a:latin typeface="Arial"/>
                <a:cs typeface="Arial"/>
              </a:rPr>
              <a:t>IEEE Access</a:t>
            </a:r>
          </a:p>
        </p:txBody>
      </p:sp>
      <p:sp>
        <p:nvSpPr>
          <p:cNvPr id="201" name="Forma 201"/>
          <p:cNvSpPr/>
          <p:nvPr/>
        </p:nvSpPr>
        <p:spPr>
          <a:xfrm>
            <a:off x="3890000" y="2400000"/>
            <a:ext cx="1640000" cy="500000"/>
          </a:xfrm>
          <a:prstGeom prst="chevron">
            <a:avLst>
              <a:gd name="adj" fmla="val 32000"/>
            </a:avLst>
          </a:prstGeom>
          <a:gradFill rotWithShape="1">
            <a:gsLst>
              <a:gs pos="0">
                <a:srgbClr val="F68F4A"/>
              </a:gs>
              <a:gs pos="100000">
                <a:srgbClr val="F57C2B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2" name="Imagen 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000" y="2490000"/>
            <a:ext cx="320000" cy="320000"/>
          </a:xfrm>
          <a:prstGeom prst="rect">
            <a:avLst/>
          </a:prstGeom>
        </p:spPr>
      </p:pic>
      <p:sp>
        <p:nvSpPr>
          <p:cNvPr id="203" name="Texto 203"/>
          <p:cNvSpPr txBox="1"/>
          <p:nvPr/>
        </p:nvSpPr>
        <p:spPr>
          <a:xfrm>
            <a:off x="3910000" y="2950000"/>
            <a:ext cx="150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950" b="1" i="0" dirty="0">
                <a:solidFill>
                  <a:srgbClr val="F57C2B"/>
                </a:solidFill>
                <a:latin typeface="Arial"/>
                <a:cs typeface="Arial"/>
              </a:rPr>
              <a:t>03 </a:t>
            </a: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Auditoría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Estima el riesgo de glosa y su causa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F57C2B"/>
                </a:solidFill>
                <a:latin typeface="Arial"/>
                <a:cs typeface="Arial"/>
              </a:rPr>
              <a:t>Jadoon et al. (2026)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latin typeface="Arial"/>
                <a:cs typeface="Arial"/>
              </a:rPr>
              <a:t>Frontiers in Health Services</a:t>
            </a:r>
          </a:p>
        </p:txBody>
      </p:sp>
      <p:sp>
        <p:nvSpPr>
          <p:cNvPr id="204" name="Forma 204"/>
          <p:cNvSpPr/>
          <p:nvPr/>
        </p:nvSpPr>
        <p:spPr>
          <a:xfrm>
            <a:off x="5410000" y="2400000"/>
            <a:ext cx="1640000" cy="500000"/>
          </a:xfrm>
          <a:prstGeom prst="chevron">
            <a:avLst>
              <a:gd name="adj" fmla="val 32000"/>
            </a:avLst>
          </a:prstGeom>
          <a:gradFill rotWithShape="1">
            <a:gsLst>
              <a:gs pos="0">
                <a:srgbClr val="4CC290"/>
              </a:gs>
              <a:gs pos="100000">
                <a:srgbClr val="2DB87D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5" name="Imagen 2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000" y="2490000"/>
            <a:ext cx="320000" cy="320000"/>
          </a:xfrm>
          <a:prstGeom prst="rect">
            <a:avLst/>
          </a:prstGeom>
        </p:spPr>
      </p:pic>
      <p:sp>
        <p:nvSpPr>
          <p:cNvPr id="206" name="Texto 206"/>
          <p:cNvSpPr txBox="1"/>
          <p:nvPr/>
        </p:nvSpPr>
        <p:spPr>
          <a:xfrm>
            <a:off x="5430000" y="2950000"/>
            <a:ext cx="150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950" b="1" i="0" dirty="0">
                <a:solidFill>
                  <a:srgbClr val="2DB87D"/>
                </a:solidFill>
                <a:latin typeface="Arial"/>
                <a:cs typeface="Arial"/>
              </a:rPr>
              <a:t>04 </a:t>
            </a: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Resultado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Corrige la cuenta antes de enviarla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2DB87D"/>
                </a:solidFill>
                <a:latin typeface="Arial"/>
                <a:cs typeface="Arial"/>
              </a:rPr>
              <a:t>Johnson et al. (2023)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latin typeface="Arial"/>
                <a:cs typeface="Arial"/>
              </a:rPr>
              <a:t>Information Systems Frontiers</a:t>
            </a:r>
          </a:p>
        </p:txBody>
      </p:sp>
      <p:sp>
        <p:nvSpPr>
          <p:cNvPr id="207" name="Texto 207"/>
          <p:cNvSpPr txBox="1"/>
          <p:nvPr/>
        </p:nvSpPr>
        <p:spPr>
          <a:xfrm>
            <a:off x="850000" y="3920000"/>
            <a:ext cx="61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i="0" dirty="0">
                <a:solidFill>
                  <a:srgbClr val="2B2D42"/>
                </a:solidFill>
                <a:latin typeface="Arial"/>
                <a:cs typeface="Arial"/>
              </a:rPr>
              <a:t>IA COLABORATIVA</a:t>
            </a:r>
            <a:r>
              <a:rPr lang="es-CO" sz="900" b="0" i="1" dirty="0">
                <a:solidFill>
                  <a:srgbClr val="8D93A5"/>
                </a:solidFill>
                <a:latin typeface="Arial"/>
                <a:cs typeface="Arial"/>
              </a:rPr>
              <a:t>   </a:t>
            </a:r>
            <a:r>
              <a:rPr lang="es-CO" sz="900" b="0" i="1" dirty="0">
                <a:latin typeface="Arial"/>
                <a:cs typeface="Arial"/>
              </a:rPr>
              <a:t>esquema tomado de Chen et al. (2022), JMIR Medical Informatics</a:t>
            </a:r>
          </a:p>
        </p:txBody>
      </p:sp>
      <p:cxnSp>
        <p:nvCxnSpPr>
          <p:cNvPr id="208" name="Línea 208"/>
          <p:cNvCxnSpPr/>
          <p:nvPr/>
        </p:nvCxnSpPr>
        <p:spPr>
          <a:xfrm>
            <a:off x="1250000" y="4470000"/>
            <a:ext cx="1299999" cy="450000"/>
          </a:xfrm>
          <a:prstGeom prst="line">
            <a:avLst/>
          </a:prstGeom>
          <a:ln w="19050">
            <a:solidFill>
              <a:srgbClr val="C9CDD6"/>
            </a:solidFill>
            <a:prstDash val="dash"/>
          </a:ln>
        </p:spPr>
      </p:cxnSp>
      <p:cxnSp>
        <p:nvCxnSpPr>
          <p:cNvPr id="209" name="Línea 209"/>
          <p:cNvCxnSpPr/>
          <p:nvPr/>
        </p:nvCxnSpPr>
        <p:spPr>
          <a:xfrm flipV="1">
            <a:off x="1250000" y="4920000"/>
            <a:ext cx="1299999" cy="419999"/>
          </a:xfrm>
          <a:prstGeom prst="line">
            <a:avLst/>
          </a:prstGeom>
          <a:ln w="19050">
            <a:solidFill>
              <a:srgbClr val="C9CDD6"/>
            </a:solidFill>
            <a:prstDash val="dash"/>
          </a:ln>
        </p:spPr>
      </p:cxnSp>
      <p:cxnSp>
        <p:nvCxnSpPr>
          <p:cNvPr id="210" name="Línea 210"/>
          <p:cNvCxnSpPr/>
          <p:nvPr/>
        </p:nvCxnSpPr>
        <p:spPr>
          <a:xfrm flipH="1">
            <a:off x="2550000" y="4470000"/>
            <a:ext cx="1300000" cy="450000"/>
          </a:xfrm>
          <a:prstGeom prst="line">
            <a:avLst/>
          </a:prstGeom>
          <a:ln w="19050">
            <a:solidFill>
              <a:srgbClr val="C9CDD6"/>
            </a:solidFill>
            <a:prstDash val="dash"/>
          </a:ln>
        </p:spPr>
      </p:cxnSp>
      <p:cxnSp>
        <p:nvCxnSpPr>
          <p:cNvPr id="211" name="Línea 211"/>
          <p:cNvCxnSpPr/>
          <p:nvPr/>
        </p:nvCxnSpPr>
        <p:spPr>
          <a:xfrm flipH="1" flipV="1">
            <a:off x="2550000" y="4920000"/>
            <a:ext cx="1300000" cy="419999"/>
          </a:xfrm>
          <a:prstGeom prst="line">
            <a:avLst/>
          </a:prstGeom>
          <a:ln w="19050">
            <a:solidFill>
              <a:srgbClr val="C9CDD6"/>
            </a:solidFill>
            <a:prstDash val="dash"/>
          </a:ln>
        </p:spPr>
      </p:cxnSp>
      <p:sp>
        <p:nvSpPr>
          <p:cNvPr id="212" name="Forma 212"/>
          <p:cNvSpPr/>
          <p:nvPr/>
        </p:nvSpPr>
        <p:spPr>
          <a:xfrm>
            <a:off x="2099999" y="4470000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3" name="Forma 213"/>
          <p:cNvSpPr/>
          <p:nvPr/>
        </p:nvSpPr>
        <p:spPr>
          <a:xfrm>
            <a:off x="2099999" y="4470000"/>
            <a:ext cx="900000" cy="900000"/>
          </a:xfrm>
          <a:prstGeom prst="blockArc">
            <a:avLst>
              <a:gd name="adj1" fmla="val 0"/>
              <a:gd name="adj2" fmla="val 21594000"/>
              <a:gd name="adj3" fmla="val 8888"/>
            </a:avLst>
          </a:prstGeom>
          <a:solidFill>
            <a:srgbClr val="E6395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214" name="Imagen 2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000" y="4710000"/>
            <a:ext cx="420000" cy="420000"/>
          </a:xfrm>
          <a:prstGeom prst="rect">
            <a:avLst/>
          </a:prstGeom>
        </p:spPr>
      </p:pic>
      <p:sp>
        <p:nvSpPr>
          <p:cNvPr id="215" name="Texto 215"/>
          <p:cNvSpPr txBox="1"/>
          <p:nvPr/>
        </p:nvSpPr>
        <p:spPr>
          <a:xfrm>
            <a:off x="1849999" y="539000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E63950"/>
                </a:solidFill>
                <a:latin typeface="Arial"/>
                <a:cs typeface="Arial"/>
              </a:rPr>
              <a:t>MODELO COMÚN</a:t>
            </a:r>
          </a:p>
        </p:txBody>
      </p:sp>
      <p:sp>
        <p:nvSpPr>
          <p:cNvPr id="216" name="Forma 216"/>
          <p:cNvSpPr/>
          <p:nvPr/>
        </p:nvSpPr>
        <p:spPr>
          <a:xfrm>
            <a:off x="1020000" y="4239999"/>
            <a:ext cx="460000" cy="46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7" name="Forma 217"/>
          <p:cNvSpPr/>
          <p:nvPr/>
        </p:nvSpPr>
        <p:spPr>
          <a:xfrm>
            <a:off x="1060000" y="4279999"/>
            <a:ext cx="380000" cy="380000"/>
          </a:xfrm>
          <a:prstGeom prst="ellipse">
            <a:avLst/>
          </a:prstGeom>
          <a:solidFill>
            <a:srgbClr val="DCF1F4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218" name="Imagen 2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000" y="4340000"/>
            <a:ext cx="260000" cy="260000"/>
          </a:xfrm>
          <a:prstGeom prst="rect">
            <a:avLst/>
          </a:prstGeom>
        </p:spPr>
      </p:pic>
      <p:sp>
        <p:nvSpPr>
          <p:cNvPr id="219" name="Texto 219"/>
          <p:cNvSpPr txBox="1"/>
          <p:nvPr/>
        </p:nvSpPr>
        <p:spPr>
          <a:xfrm>
            <a:off x="750000" y="471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1AA6B7"/>
                </a:solidFill>
                <a:latin typeface="Arial"/>
                <a:cs typeface="Arial"/>
              </a:rPr>
              <a:t>IPS A</a:t>
            </a:r>
          </a:p>
        </p:txBody>
      </p:sp>
      <p:sp>
        <p:nvSpPr>
          <p:cNvPr id="220" name="Forma 220"/>
          <p:cNvSpPr/>
          <p:nvPr/>
        </p:nvSpPr>
        <p:spPr>
          <a:xfrm>
            <a:off x="1020000" y="5109999"/>
            <a:ext cx="460000" cy="46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1" name="Forma 221"/>
          <p:cNvSpPr/>
          <p:nvPr/>
        </p:nvSpPr>
        <p:spPr>
          <a:xfrm>
            <a:off x="1060000" y="5149999"/>
            <a:ext cx="380000" cy="380000"/>
          </a:xfrm>
          <a:prstGeom prst="ellipse">
            <a:avLst/>
          </a:prstGeom>
          <a:solidFill>
            <a:srgbClr val="FDEBD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222" name="Imagen 2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000" y="5210000"/>
            <a:ext cx="260000" cy="260000"/>
          </a:xfrm>
          <a:prstGeom prst="rect">
            <a:avLst/>
          </a:prstGeom>
        </p:spPr>
      </p:pic>
      <p:sp>
        <p:nvSpPr>
          <p:cNvPr id="223" name="Texto 223"/>
          <p:cNvSpPr txBox="1"/>
          <p:nvPr/>
        </p:nvSpPr>
        <p:spPr>
          <a:xfrm>
            <a:off x="750000" y="558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F57C2B"/>
                </a:solidFill>
                <a:latin typeface="Arial"/>
                <a:cs typeface="Arial"/>
              </a:rPr>
              <a:t>IPS B</a:t>
            </a:r>
          </a:p>
        </p:txBody>
      </p:sp>
      <p:sp>
        <p:nvSpPr>
          <p:cNvPr id="224" name="Forma 224"/>
          <p:cNvSpPr/>
          <p:nvPr/>
        </p:nvSpPr>
        <p:spPr>
          <a:xfrm>
            <a:off x="3620000" y="4239999"/>
            <a:ext cx="460000" cy="46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5" name="Forma 225"/>
          <p:cNvSpPr/>
          <p:nvPr/>
        </p:nvSpPr>
        <p:spPr>
          <a:xfrm>
            <a:off x="3660000" y="4279999"/>
            <a:ext cx="380000" cy="380000"/>
          </a:xfrm>
          <a:prstGeom prst="ellipse">
            <a:avLst/>
          </a:prstGeom>
          <a:solidFill>
            <a:srgbClr val="DFF4E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226" name="Imagen 2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0000" y="4340000"/>
            <a:ext cx="260000" cy="260000"/>
          </a:xfrm>
          <a:prstGeom prst="rect">
            <a:avLst/>
          </a:prstGeom>
        </p:spPr>
      </p:pic>
      <p:sp>
        <p:nvSpPr>
          <p:cNvPr id="227" name="Texto 227"/>
          <p:cNvSpPr txBox="1"/>
          <p:nvPr/>
        </p:nvSpPr>
        <p:spPr>
          <a:xfrm>
            <a:off x="3350000" y="471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2DB87D"/>
                </a:solidFill>
                <a:latin typeface="Arial"/>
                <a:cs typeface="Arial"/>
              </a:rPr>
              <a:t>IPS C</a:t>
            </a:r>
          </a:p>
        </p:txBody>
      </p:sp>
      <p:sp>
        <p:nvSpPr>
          <p:cNvPr id="228" name="Forma 228"/>
          <p:cNvSpPr/>
          <p:nvPr/>
        </p:nvSpPr>
        <p:spPr>
          <a:xfrm>
            <a:off x="3620000" y="5109999"/>
            <a:ext cx="460000" cy="46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9" name="Forma 229"/>
          <p:cNvSpPr/>
          <p:nvPr/>
        </p:nvSpPr>
        <p:spPr>
          <a:xfrm>
            <a:off x="3660000" y="5149999"/>
            <a:ext cx="380000" cy="380000"/>
          </a:xfrm>
          <a:prstGeom prst="ellipse">
            <a:avLst/>
          </a:prstGeom>
          <a:solidFill>
            <a:srgbClr val="EBE4F1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230" name="Imagen 2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0000" y="5210000"/>
            <a:ext cx="260000" cy="260000"/>
          </a:xfrm>
          <a:prstGeom prst="rect">
            <a:avLst/>
          </a:prstGeom>
        </p:spPr>
      </p:pic>
      <p:sp>
        <p:nvSpPr>
          <p:cNvPr id="231" name="Texto 231"/>
          <p:cNvSpPr txBox="1"/>
          <p:nvPr/>
        </p:nvSpPr>
        <p:spPr>
          <a:xfrm>
            <a:off x="3350000" y="5580000"/>
            <a:ext cx="10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7B4BA6"/>
                </a:solidFill>
                <a:latin typeface="Arial"/>
                <a:cs typeface="Arial"/>
              </a:rPr>
              <a:t>IPS D</a:t>
            </a:r>
          </a:p>
        </p:txBody>
      </p:sp>
      <p:sp>
        <p:nvSpPr>
          <p:cNvPr id="232" name="Texto 232"/>
          <p:cNvSpPr txBox="1"/>
          <p:nvPr/>
        </p:nvSpPr>
        <p:spPr>
          <a:xfrm>
            <a:off x="850000" y="5760000"/>
            <a:ext cx="3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1" dirty="0">
                <a:latin typeface="Arial"/>
                <a:cs typeface="Arial"/>
              </a:rPr>
              <a:t>los datos se quedan en cada IPS; solo viajan los parámetros</a:t>
            </a:r>
          </a:p>
        </p:txBody>
      </p:sp>
      <p:sp>
        <p:nvSpPr>
          <p:cNvPr id="235" name="Texto 235"/>
          <p:cNvSpPr txBox="1"/>
          <p:nvPr/>
        </p:nvSpPr>
        <p:spPr>
          <a:xfrm>
            <a:off x="4580000" y="4240000"/>
            <a:ext cx="2280000" cy="16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000" b="1" i="0" dirty="0">
                <a:solidFill>
                  <a:srgbClr val="0070C0"/>
                </a:solidFill>
                <a:latin typeface="Arial"/>
                <a:cs typeface="Arial"/>
              </a:rPr>
              <a:t>¿Por qué colaborativa?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2B2D42"/>
                </a:solidFill>
                <a:latin typeface="Arial"/>
                <a:cs typeface="Arial"/>
              </a:rPr>
              <a:t>• Cada IPS tiene pocos datos y la ley limita compartirlos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  Brauneck et al. (2023), J Med Internet Res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2B2D42"/>
                </a:solidFill>
                <a:latin typeface="Arial"/>
                <a:cs typeface="Arial"/>
              </a:rPr>
              <a:t>• Los centros con menos datos son los que más ganan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  Vaid et al. (2021), JMIR Med Inform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2B2D42"/>
                </a:solidFill>
                <a:latin typeface="Arial"/>
                <a:cs typeface="Arial"/>
              </a:rPr>
              <a:t>• El modelo común superó a los locales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  Chen et al. (2022), JMIR Med Inform</a:t>
            </a:r>
          </a:p>
        </p:txBody>
      </p:sp>
      <p:sp>
        <p:nvSpPr>
          <p:cNvPr id="236" name="Texto 236"/>
          <p:cNvSpPr txBox="1"/>
          <p:nvPr/>
        </p:nvSpPr>
        <p:spPr>
          <a:xfrm>
            <a:off x="7250000" y="1560000"/>
            <a:ext cx="4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150" b="1" i="0" dirty="0">
                <a:solidFill>
                  <a:srgbClr val="2B2D42"/>
                </a:solidFill>
                <a:latin typeface="Arial"/>
                <a:cs typeface="Arial"/>
              </a:rPr>
              <a:t>Colaborar mejora el modelo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F57C2B"/>
                </a:solidFill>
                <a:latin typeface="Arial"/>
                <a:cs typeface="Arial"/>
              </a:rPr>
              <a:t>Chen et al. (2022), JMIR Medical Informatics: </a:t>
            </a: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propusieron entrenar entre tres hospitales, sin mover sus datos, un modelo de lenguaje que asigna códigos CIE-10.</a:t>
            </a:r>
          </a:p>
        </p:txBody>
      </p:sp>
      <p:sp>
        <p:nvSpPr>
          <p:cNvPr id="237" name="Forma 237"/>
          <p:cNvSpPr/>
          <p:nvPr/>
        </p:nvSpPr>
        <p:spPr>
          <a:xfrm>
            <a:off x="7350000" y="2567999"/>
            <a:ext cx="440000" cy="732000"/>
          </a:xfrm>
          <a:prstGeom prst="round2SameRect">
            <a:avLst>
              <a:gd name="adj1" fmla="val 22000"/>
              <a:gd name="adj2" fmla="val 0"/>
            </a:avLst>
          </a:prstGeom>
          <a:gradFill rotWithShape="1">
            <a:gsLst>
              <a:gs pos="0">
                <a:srgbClr val="57C697"/>
              </a:gs>
              <a:gs pos="100000">
                <a:srgbClr val="2DB87D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38" name="Texto 238"/>
          <p:cNvSpPr txBox="1"/>
          <p:nvPr/>
        </p:nvSpPr>
        <p:spPr>
          <a:xfrm>
            <a:off x="7230000" y="2337999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B2D42"/>
                </a:solidFill>
                <a:latin typeface="Arial"/>
                <a:cs typeface="Arial"/>
              </a:rPr>
              <a:t>0,61</a:t>
            </a:r>
          </a:p>
        </p:txBody>
      </p:sp>
      <p:sp>
        <p:nvSpPr>
          <p:cNvPr id="239" name="Texto 239"/>
          <p:cNvSpPr txBox="1"/>
          <p:nvPr/>
        </p:nvSpPr>
        <p:spPr>
          <a:xfrm>
            <a:off x="7230000" y="3320000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4A4E5A"/>
                </a:solidFill>
                <a:latin typeface="Arial"/>
                <a:cs typeface="Arial"/>
              </a:rPr>
              <a:t>Común</a:t>
            </a:r>
          </a:p>
        </p:txBody>
      </p:sp>
      <p:sp>
        <p:nvSpPr>
          <p:cNvPr id="240" name="Forma 240"/>
          <p:cNvSpPr/>
          <p:nvPr/>
        </p:nvSpPr>
        <p:spPr>
          <a:xfrm>
            <a:off x="7970000" y="2651999"/>
            <a:ext cx="440000" cy="648000"/>
          </a:xfrm>
          <a:prstGeom prst="round2SameRect">
            <a:avLst>
              <a:gd name="adj1" fmla="val 22000"/>
              <a:gd name="adj2" fmla="val 0"/>
            </a:avLst>
          </a:prstGeom>
          <a:gradFill rotWithShape="1">
            <a:gsLst>
              <a:gs pos="0">
                <a:srgbClr val="DDE0E7"/>
              </a:gs>
              <a:gs pos="100000">
                <a:srgbClr val="D5D9E2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41" name="Texto 241"/>
          <p:cNvSpPr txBox="1"/>
          <p:nvPr/>
        </p:nvSpPr>
        <p:spPr>
          <a:xfrm>
            <a:off x="7850000" y="2421999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B2D42"/>
                </a:solidFill>
                <a:latin typeface="Arial"/>
                <a:cs typeface="Arial"/>
              </a:rPr>
              <a:t>0,54</a:t>
            </a:r>
          </a:p>
        </p:txBody>
      </p:sp>
      <p:sp>
        <p:nvSpPr>
          <p:cNvPr id="242" name="Texto 242"/>
          <p:cNvSpPr txBox="1"/>
          <p:nvPr/>
        </p:nvSpPr>
        <p:spPr>
          <a:xfrm>
            <a:off x="7850000" y="3320000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Solo 1</a:t>
            </a:r>
          </a:p>
        </p:txBody>
      </p:sp>
      <p:sp>
        <p:nvSpPr>
          <p:cNvPr id="243" name="Forma 243"/>
          <p:cNvSpPr/>
          <p:nvPr/>
        </p:nvSpPr>
        <p:spPr>
          <a:xfrm>
            <a:off x="8590000" y="2760000"/>
            <a:ext cx="440000" cy="540000"/>
          </a:xfrm>
          <a:prstGeom prst="round2SameRect">
            <a:avLst>
              <a:gd name="adj1" fmla="val 22000"/>
              <a:gd name="adj2" fmla="val 0"/>
            </a:avLst>
          </a:prstGeom>
          <a:gradFill rotWithShape="1">
            <a:gsLst>
              <a:gs pos="0">
                <a:srgbClr val="DDE0E7"/>
              </a:gs>
              <a:gs pos="100000">
                <a:srgbClr val="D5D9E2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44" name="Texto 244"/>
          <p:cNvSpPr txBox="1"/>
          <p:nvPr/>
        </p:nvSpPr>
        <p:spPr>
          <a:xfrm>
            <a:off x="8470000" y="2530000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B2D42"/>
                </a:solidFill>
                <a:latin typeface="Arial"/>
                <a:cs typeface="Arial"/>
              </a:rPr>
              <a:t>0,45</a:t>
            </a:r>
          </a:p>
        </p:txBody>
      </p:sp>
      <p:sp>
        <p:nvSpPr>
          <p:cNvPr id="245" name="Texto 245"/>
          <p:cNvSpPr txBox="1"/>
          <p:nvPr/>
        </p:nvSpPr>
        <p:spPr>
          <a:xfrm>
            <a:off x="8470000" y="3320000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Solo 2</a:t>
            </a:r>
          </a:p>
        </p:txBody>
      </p:sp>
      <p:sp>
        <p:nvSpPr>
          <p:cNvPr id="246" name="Forma 246"/>
          <p:cNvSpPr/>
          <p:nvPr/>
        </p:nvSpPr>
        <p:spPr>
          <a:xfrm>
            <a:off x="9210000" y="3000000"/>
            <a:ext cx="440000" cy="300000"/>
          </a:xfrm>
          <a:prstGeom prst="round2SameRect">
            <a:avLst>
              <a:gd name="adj1" fmla="val 22000"/>
              <a:gd name="adj2" fmla="val 0"/>
            </a:avLst>
          </a:prstGeom>
          <a:gradFill rotWithShape="1">
            <a:gsLst>
              <a:gs pos="0">
                <a:srgbClr val="DDE0E7"/>
              </a:gs>
              <a:gs pos="100000">
                <a:srgbClr val="D5D9E2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47" name="Texto 247"/>
          <p:cNvSpPr txBox="1"/>
          <p:nvPr/>
        </p:nvSpPr>
        <p:spPr>
          <a:xfrm>
            <a:off x="9090000" y="2770000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B2D42"/>
                </a:solidFill>
                <a:latin typeface="Arial"/>
                <a:cs typeface="Arial"/>
              </a:rPr>
              <a:t>0,25</a:t>
            </a:r>
          </a:p>
        </p:txBody>
      </p:sp>
      <p:sp>
        <p:nvSpPr>
          <p:cNvPr id="248" name="Texto 248"/>
          <p:cNvSpPr txBox="1"/>
          <p:nvPr/>
        </p:nvSpPr>
        <p:spPr>
          <a:xfrm>
            <a:off x="9090000" y="3320000"/>
            <a:ext cx="6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Solo 3</a:t>
            </a:r>
          </a:p>
        </p:txBody>
      </p:sp>
      <p:cxnSp>
        <p:nvCxnSpPr>
          <p:cNvPr id="249" name="Línea 249"/>
          <p:cNvCxnSpPr/>
          <p:nvPr/>
        </p:nvCxnSpPr>
        <p:spPr>
          <a:xfrm>
            <a:off x="7250000" y="3300000"/>
            <a:ext cx="2599999" cy="0"/>
          </a:xfrm>
          <a:prstGeom prst="line">
            <a:avLst/>
          </a:prstGeom>
          <a:ln w="12700">
            <a:solidFill>
              <a:srgbClr val="C9CDD6"/>
            </a:solidFill>
          </a:ln>
        </p:spPr>
      </p:cxnSp>
      <p:sp>
        <p:nvSpPr>
          <p:cNvPr id="250" name="Texto 250"/>
          <p:cNvSpPr txBox="1"/>
          <p:nvPr/>
        </p:nvSpPr>
        <p:spPr>
          <a:xfrm>
            <a:off x="7250000" y="3559999"/>
            <a:ext cx="27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latin typeface="Arial"/>
                <a:cs typeface="Arial"/>
              </a:rPr>
              <a:t>F1: acierto al asignar códigos, de 0 a 1. Común = los tres hospitales juntos; Solo = cada hospital por su cuenta.</a:t>
            </a:r>
          </a:p>
        </p:txBody>
      </p:sp>
      <p:sp>
        <p:nvSpPr>
          <p:cNvPr id="251" name="Forma 251"/>
          <p:cNvSpPr/>
          <p:nvPr/>
        </p:nvSpPr>
        <p:spPr>
          <a:xfrm>
            <a:off x="10100000" y="2550000"/>
            <a:ext cx="920000" cy="400000"/>
          </a:xfrm>
          <a:prstGeom prst="roundRect">
            <a:avLst>
              <a:gd name="adj" fmla="val 50000"/>
            </a:avLst>
          </a:prstGeom>
          <a:solidFill>
            <a:srgbClr val="2DB87D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2" name="Texto 252"/>
          <p:cNvSpPr txBox="1"/>
          <p:nvPr/>
        </p:nvSpPr>
        <p:spPr>
          <a:xfrm>
            <a:off x="10100000" y="2550000"/>
            <a:ext cx="9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i="0" dirty="0">
                <a:solidFill>
                  <a:srgbClr val="FFFFFF"/>
                </a:solidFill>
                <a:latin typeface="Arial"/>
                <a:cs typeface="Arial"/>
              </a:rPr>
              <a:t>+15 %</a:t>
            </a:r>
          </a:p>
        </p:txBody>
      </p:sp>
      <p:sp>
        <p:nvSpPr>
          <p:cNvPr id="253" name="Texto 253"/>
          <p:cNvSpPr txBox="1"/>
          <p:nvPr/>
        </p:nvSpPr>
        <p:spPr>
          <a:xfrm>
            <a:off x="9950000" y="2980000"/>
            <a:ext cx="13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latin typeface="Arial"/>
                <a:cs typeface="Arial"/>
              </a:rPr>
              <a:t>0,61 frente a 0,54 del mejor hospital solo</a:t>
            </a:r>
          </a:p>
        </p:txBody>
      </p:sp>
      <p:sp>
        <p:nvSpPr>
          <p:cNvPr id="254" name="Texto 254"/>
          <p:cNvSpPr txBox="1"/>
          <p:nvPr/>
        </p:nvSpPr>
        <p:spPr>
          <a:xfrm>
            <a:off x="7250000" y="4080000"/>
            <a:ext cx="4200000" cy="7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1150" b="1" i="0" dirty="0">
                <a:solidFill>
                  <a:srgbClr val="2B2D42"/>
                </a:solidFill>
                <a:latin typeface="Arial"/>
                <a:cs typeface="Arial"/>
              </a:rPr>
              <a:t>Anticipar la glosa es posible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7B4BA6"/>
                </a:solidFill>
                <a:latin typeface="Arial"/>
                <a:cs typeface="Arial"/>
              </a:rPr>
              <a:t>Jadoon et al. (2026), Frontiers in Health Services: </a:t>
            </a: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propusieron predecir en dos etapas si una cuenta será rechazada y por qué.</a:t>
            </a:r>
          </a:p>
        </p:txBody>
      </p:sp>
      <p:sp>
        <p:nvSpPr>
          <p:cNvPr id="255" name="Texto 255"/>
          <p:cNvSpPr txBox="1"/>
          <p:nvPr/>
        </p:nvSpPr>
        <p:spPr>
          <a:xfrm>
            <a:off x="7250000" y="4870000"/>
            <a:ext cx="72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Modelo</a:t>
            </a:r>
          </a:p>
        </p:txBody>
      </p:sp>
      <p:sp>
        <p:nvSpPr>
          <p:cNvPr id="256" name="Forma 256"/>
          <p:cNvSpPr/>
          <p:nvPr/>
        </p:nvSpPr>
        <p:spPr>
          <a:xfrm>
            <a:off x="7950000" y="4920000"/>
            <a:ext cx="1550000" cy="180000"/>
          </a:xfrm>
          <a:prstGeom prst="roundRect">
            <a:avLst>
              <a:gd name="adj" fmla="val 50000"/>
            </a:avLst>
          </a:prstGeom>
          <a:solidFill>
            <a:srgbClr val="E6E8E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7" name="Forma 257"/>
          <p:cNvSpPr/>
          <p:nvPr/>
        </p:nvSpPr>
        <p:spPr>
          <a:xfrm>
            <a:off x="7950000" y="4920000"/>
            <a:ext cx="1209000" cy="18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7B7C5"/>
              </a:gs>
              <a:gs pos="100000">
                <a:srgbClr val="1AA6B7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8" name="Texto 258"/>
          <p:cNvSpPr txBox="1"/>
          <p:nvPr/>
        </p:nvSpPr>
        <p:spPr>
          <a:xfrm>
            <a:off x="9520000" y="4860000"/>
            <a:ext cx="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B2D42"/>
                </a:solidFill>
                <a:latin typeface="Arial"/>
                <a:cs typeface="Arial"/>
              </a:rPr>
              <a:t>0,78</a:t>
            </a:r>
          </a:p>
        </p:txBody>
      </p:sp>
      <p:sp>
        <p:nvSpPr>
          <p:cNvPr id="259" name="Texto 259"/>
          <p:cNvSpPr txBox="1"/>
          <p:nvPr/>
        </p:nvSpPr>
        <p:spPr>
          <a:xfrm>
            <a:off x="7250000" y="5190000"/>
            <a:ext cx="72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0" i="0" dirty="0">
                <a:solidFill>
                  <a:srgbClr val="2B2D42"/>
                </a:solidFill>
                <a:latin typeface="Arial"/>
                <a:cs typeface="Arial"/>
              </a:rPr>
              <a:t>Azar</a:t>
            </a:r>
          </a:p>
        </p:txBody>
      </p:sp>
      <p:sp>
        <p:nvSpPr>
          <p:cNvPr id="260" name="Forma 260"/>
          <p:cNvSpPr/>
          <p:nvPr/>
        </p:nvSpPr>
        <p:spPr>
          <a:xfrm>
            <a:off x="7950000" y="5240000"/>
            <a:ext cx="1550000" cy="180000"/>
          </a:xfrm>
          <a:prstGeom prst="roundRect">
            <a:avLst>
              <a:gd name="adj" fmla="val 50000"/>
            </a:avLst>
          </a:prstGeom>
          <a:solidFill>
            <a:srgbClr val="E6E8E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61" name="Forma 261"/>
          <p:cNvSpPr/>
          <p:nvPr/>
        </p:nvSpPr>
        <p:spPr>
          <a:xfrm>
            <a:off x="7950000" y="5240000"/>
            <a:ext cx="511500" cy="18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FD3DB"/>
              </a:gs>
              <a:gs pos="100000">
                <a:srgbClr val="C3C8D3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62" name="Texto 262"/>
          <p:cNvSpPr txBox="1"/>
          <p:nvPr/>
        </p:nvSpPr>
        <p:spPr>
          <a:xfrm>
            <a:off x="9520000" y="5180000"/>
            <a:ext cx="5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B2D42"/>
                </a:solidFill>
                <a:latin typeface="Arial"/>
                <a:cs typeface="Arial"/>
              </a:rPr>
              <a:t>0,33</a:t>
            </a:r>
          </a:p>
        </p:txBody>
      </p:sp>
      <p:sp>
        <p:nvSpPr>
          <p:cNvPr id="263" name="Forma 263"/>
          <p:cNvSpPr/>
          <p:nvPr/>
        </p:nvSpPr>
        <p:spPr>
          <a:xfrm>
            <a:off x="10100000" y="4900000"/>
            <a:ext cx="920000" cy="400000"/>
          </a:xfrm>
          <a:prstGeom prst="roundRect">
            <a:avLst>
              <a:gd name="adj" fmla="val 50000"/>
            </a:avLst>
          </a:prstGeom>
          <a:solidFill>
            <a:srgbClr val="1AA6B7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4" name="Texto 264"/>
          <p:cNvSpPr txBox="1"/>
          <p:nvPr/>
        </p:nvSpPr>
        <p:spPr>
          <a:xfrm>
            <a:off x="10100000" y="4900000"/>
            <a:ext cx="9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50" b="1" i="0" dirty="0">
                <a:solidFill>
                  <a:srgbClr val="FFFFFF"/>
                </a:solidFill>
                <a:latin typeface="Arial"/>
                <a:cs typeface="Arial"/>
              </a:rPr>
              <a:t>2,4×</a:t>
            </a:r>
          </a:p>
        </p:txBody>
      </p:sp>
      <p:sp>
        <p:nvSpPr>
          <p:cNvPr id="265" name="Texto 265"/>
          <p:cNvSpPr txBox="1"/>
          <p:nvPr/>
        </p:nvSpPr>
        <p:spPr>
          <a:xfrm>
            <a:off x="9980000" y="530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latin typeface="Arial"/>
                <a:cs typeface="Arial"/>
              </a:rPr>
              <a:t>mejor que el azar</a:t>
            </a:r>
          </a:p>
        </p:txBody>
      </p:sp>
      <p:sp>
        <p:nvSpPr>
          <p:cNvPr id="266" name="Texto 266"/>
          <p:cNvSpPr txBox="1"/>
          <p:nvPr/>
        </p:nvSpPr>
        <p:spPr>
          <a:xfrm>
            <a:off x="7250000" y="5500000"/>
            <a:ext cx="24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latin typeface="Arial"/>
                <a:cs typeface="Arial"/>
              </a:rPr>
              <a:t>PR-AUC: acierto al detectar cuentas rechazadas, de 0 a 1. Adivinar al azar daría 0,33; el modelo logra 0,78, unas 2,4 veces más (0,78 ÷ 0,33).</a:t>
            </a:r>
          </a:p>
        </p:txBody>
      </p:sp>
      <p:sp>
        <p:nvSpPr>
          <p:cNvPr id="267" name="Forma 267"/>
          <p:cNvSpPr/>
          <p:nvPr/>
        </p:nvSpPr>
        <p:spPr>
          <a:xfrm>
            <a:off x="850000" y="6150000"/>
            <a:ext cx="6100000" cy="480000"/>
          </a:xfrm>
          <a:prstGeom prst="roundRect">
            <a:avLst>
              <a:gd name="adj" fmla="val 50000"/>
            </a:avLst>
          </a:prstGeom>
          <a:solidFill>
            <a:srgbClr val="FDF1F2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68" name="Texto 268"/>
          <p:cNvSpPr txBox="1"/>
          <p:nvPr/>
        </p:nvSpPr>
        <p:spPr>
          <a:xfrm>
            <a:off x="1000000" y="6150000"/>
            <a:ext cx="59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E63950"/>
                </a:solidFill>
                <a:latin typeface="Arial"/>
                <a:cs typeface="Arial"/>
              </a:rPr>
              <a:t>Pregunta guía: </a:t>
            </a:r>
            <a:r>
              <a:rPr lang="es-CO" sz="950" b="0" i="0" dirty="0">
                <a:solidFill>
                  <a:srgbClr val="2B2D42"/>
                </a:solidFill>
                <a:latin typeface="Arial"/>
                <a:cs typeface="Arial"/>
              </a:rPr>
              <a:t>¿cómo reducir las glosas con una IA colaborativa que codifique y audite sin compartir datos de pacientes?</a:t>
            </a:r>
          </a:p>
        </p:txBody>
      </p:sp>
    </p:spTree>
    <p:extLst>
      <p:ext uri="{BB962C8B-B14F-4D97-AF65-F5344CB8AC3E}">
        <p14:creationId xmlns:p14="http://schemas.microsoft.com/office/powerpoint/2010/main" val="378065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971800" y="319232"/>
            <a:ext cx="6656833" cy="40011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MODALIDAD DE GRADO</a:t>
            </a: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Texto 341"/>
          <p:cNvSpPr txBox="1"/>
          <p:nvPr/>
        </p:nvSpPr>
        <p:spPr>
          <a:xfrm>
            <a:off x="850000" y="980000"/>
            <a:ext cx="10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dirty="0">
                <a:solidFill>
                  <a:srgbClr val="0B6DAE"/>
                </a:solidFill>
                <a:latin typeface="Arial"/>
                <a:cs typeface="Arial"/>
              </a:rPr>
              <a:t>ANTECEDENTES</a:t>
            </a:r>
          </a:p>
        </p:txBody>
      </p:sp>
      <p:sp>
        <p:nvSpPr>
          <p:cNvPr id="342" name="Forma 342"/>
          <p:cNvSpPr/>
          <p:nvPr/>
        </p:nvSpPr>
        <p:spPr>
          <a:xfrm>
            <a:off x="507001" y="1690000"/>
            <a:ext cx="170000" cy="170000"/>
          </a:xfrm>
          <a:prstGeom prst="ellipse">
            <a:avLst/>
          </a:prstGeom>
          <a:solidFill>
            <a:srgbClr val="1AA6B7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43" name="Texto 343"/>
          <p:cNvSpPr txBox="1"/>
          <p:nvPr/>
        </p:nvSpPr>
        <p:spPr>
          <a:xfrm>
            <a:off x="747000" y="1600000"/>
            <a:ext cx="1249871" cy="3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Codificación clínica</a:t>
            </a:r>
          </a:p>
        </p:txBody>
      </p:sp>
      <p:sp>
        <p:nvSpPr>
          <p:cNvPr id="344" name="Forma 344"/>
          <p:cNvSpPr/>
          <p:nvPr/>
        </p:nvSpPr>
        <p:spPr>
          <a:xfrm>
            <a:off x="2196871" y="1690000"/>
            <a:ext cx="170000" cy="170000"/>
          </a:xfrm>
          <a:prstGeom prst="ellipse">
            <a:avLst/>
          </a:prstGeom>
          <a:solidFill>
            <a:srgbClr val="7B4BA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45" name="Texto 345"/>
          <p:cNvSpPr txBox="1"/>
          <p:nvPr/>
        </p:nvSpPr>
        <p:spPr>
          <a:xfrm>
            <a:off x="2367001" y="1600000"/>
            <a:ext cx="14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Auditoría de cuentas</a:t>
            </a:r>
          </a:p>
        </p:txBody>
      </p:sp>
      <p:sp>
        <p:nvSpPr>
          <p:cNvPr id="346" name="Forma 346"/>
          <p:cNvSpPr/>
          <p:nvPr/>
        </p:nvSpPr>
        <p:spPr>
          <a:xfrm>
            <a:off x="3986740" y="1690000"/>
            <a:ext cx="170000" cy="170000"/>
          </a:xfrm>
          <a:prstGeom prst="ellipse">
            <a:avLst/>
          </a:prstGeom>
          <a:solidFill>
            <a:srgbClr val="F57C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47" name="Texto 347"/>
          <p:cNvSpPr txBox="1"/>
          <p:nvPr/>
        </p:nvSpPr>
        <p:spPr>
          <a:xfrm>
            <a:off x="3987001" y="1600000"/>
            <a:ext cx="14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2B2D42"/>
                </a:solidFill>
                <a:latin typeface="Arial"/>
                <a:cs typeface="Arial"/>
              </a:rPr>
              <a:t>IA colaborativa</a:t>
            </a:r>
          </a:p>
        </p:txBody>
      </p:sp>
      <p:sp>
        <p:nvSpPr>
          <p:cNvPr id="348" name="Texto 348"/>
          <p:cNvSpPr txBox="1"/>
          <p:nvPr/>
        </p:nvSpPr>
        <p:spPr>
          <a:xfrm>
            <a:off x="627001" y="1950000"/>
            <a:ext cx="1163600" cy="2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1" dirty="0">
                <a:latin typeface="Arial"/>
                <a:cs typeface="Arial"/>
              </a:rPr>
              <a:t>AUTOR Y REVISTA</a:t>
            </a:r>
          </a:p>
        </p:txBody>
      </p:sp>
      <p:sp>
        <p:nvSpPr>
          <p:cNvPr id="349" name="Texto 349"/>
          <p:cNvSpPr txBox="1"/>
          <p:nvPr/>
        </p:nvSpPr>
        <p:spPr>
          <a:xfrm>
            <a:off x="2157001" y="1950000"/>
            <a:ext cx="146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1" dirty="0">
                <a:latin typeface="Arial"/>
                <a:cs typeface="Arial"/>
              </a:rPr>
              <a:t>QUÉ HICIERON</a:t>
            </a:r>
          </a:p>
        </p:txBody>
      </p:sp>
      <p:sp>
        <p:nvSpPr>
          <p:cNvPr id="350" name="Texto 350"/>
          <p:cNvSpPr txBox="1"/>
          <p:nvPr/>
        </p:nvSpPr>
        <p:spPr>
          <a:xfrm>
            <a:off x="4152801" y="1950000"/>
            <a:ext cx="1154200" cy="2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1" dirty="0">
                <a:latin typeface="Arial"/>
                <a:cs typeface="Arial"/>
              </a:rPr>
              <a:t>QUÉ ENCONTRARON</a:t>
            </a:r>
          </a:p>
        </p:txBody>
      </p:sp>
      <p:sp>
        <p:nvSpPr>
          <p:cNvPr id="351" name="Forma 351"/>
          <p:cNvSpPr/>
          <p:nvPr/>
        </p:nvSpPr>
        <p:spPr>
          <a:xfrm>
            <a:off x="507001" y="2230000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6F7F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2" name="Forma 352"/>
          <p:cNvSpPr/>
          <p:nvPr/>
        </p:nvSpPr>
        <p:spPr>
          <a:xfrm>
            <a:off x="507001" y="2270000"/>
            <a:ext cx="60000" cy="37500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3" name="Texto 353"/>
          <p:cNvSpPr txBox="1"/>
          <p:nvPr/>
        </p:nvSpPr>
        <p:spPr>
          <a:xfrm>
            <a:off x="627001" y="2230000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1AA6B7"/>
                </a:solidFill>
                <a:latin typeface="Arial"/>
                <a:cs typeface="Arial"/>
              </a:rPr>
              <a:t>López-García et al. (2021)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IEEE Access</a:t>
            </a:r>
          </a:p>
        </p:txBody>
      </p:sp>
      <p:sp>
        <p:nvSpPr>
          <p:cNvPr id="354" name="Texto 354"/>
          <p:cNvSpPr txBox="1"/>
          <p:nvPr/>
        </p:nvSpPr>
        <p:spPr>
          <a:xfrm>
            <a:off x="2157001" y="2230000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Ajustaron modelos BERT en español para codificar casos clínicos</a:t>
            </a:r>
          </a:p>
        </p:txBody>
      </p:sp>
      <p:sp>
        <p:nvSpPr>
          <p:cNvPr id="355" name="Texto 355"/>
          <p:cNvSpPr txBox="1"/>
          <p:nvPr/>
        </p:nvSpPr>
        <p:spPr>
          <a:xfrm>
            <a:off x="4077001" y="2230000"/>
            <a:ext cx="13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1AA6B7"/>
                </a:solidFill>
                <a:latin typeface="Arial"/>
                <a:cs typeface="Arial"/>
              </a:rPr>
              <a:t>Precisión media (MAP) de 0,662 en diagnósticos</a:t>
            </a:r>
          </a:p>
        </p:txBody>
      </p:sp>
      <p:sp>
        <p:nvSpPr>
          <p:cNvPr id="356" name="Forma 356"/>
          <p:cNvSpPr/>
          <p:nvPr/>
        </p:nvSpPr>
        <p:spPr>
          <a:xfrm>
            <a:off x="507001" y="2734999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7" name="Forma 357"/>
          <p:cNvSpPr/>
          <p:nvPr/>
        </p:nvSpPr>
        <p:spPr>
          <a:xfrm>
            <a:off x="507001" y="2774999"/>
            <a:ext cx="60000" cy="375000"/>
          </a:xfrm>
          <a:prstGeom prst="rect">
            <a:avLst/>
          </a:prstGeom>
          <a:solidFill>
            <a:srgbClr val="F57C2B"/>
          </a:solidFill>
          <a:ln>
            <a:noFill/>
          </a:ln>
        </p:spPr>
        <p:txBody>
          <a:bodyPr/>
          <a:lstStyle/>
          <a:p>
            <a:pPr algn="ctr"/>
            <a:endParaRPr lang="es-CO"/>
          </a:p>
        </p:txBody>
      </p:sp>
      <p:sp>
        <p:nvSpPr>
          <p:cNvPr id="358" name="Texto 358"/>
          <p:cNvSpPr txBox="1"/>
          <p:nvPr/>
        </p:nvSpPr>
        <p:spPr>
          <a:xfrm>
            <a:off x="627001" y="2734999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F57C2B"/>
                </a:solidFill>
                <a:latin typeface="Arial"/>
                <a:cs typeface="Arial"/>
              </a:rPr>
              <a:t>Dayan et al. (2021)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Nature Medicine</a:t>
            </a:r>
          </a:p>
        </p:txBody>
      </p:sp>
      <p:sp>
        <p:nvSpPr>
          <p:cNvPr id="359" name="Texto 359"/>
          <p:cNvSpPr txBox="1"/>
          <p:nvPr/>
        </p:nvSpPr>
        <p:spPr>
          <a:xfrm>
            <a:off x="2157001" y="2734999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Modelo federado (FedAvg) entre 20 instituciones de 4 continentes</a:t>
            </a:r>
          </a:p>
        </p:txBody>
      </p:sp>
      <p:sp>
        <p:nvSpPr>
          <p:cNvPr id="360" name="Texto 360"/>
          <p:cNvSpPr txBox="1"/>
          <p:nvPr/>
        </p:nvSpPr>
        <p:spPr>
          <a:xfrm>
            <a:off x="4077001" y="2734999"/>
            <a:ext cx="13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F57C2B"/>
                </a:solidFill>
                <a:latin typeface="Arial"/>
                <a:cs typeface="Arial"/>
              </a:rPr>
              <a:t>AUC de 0,795 (local) a 0,920 (federado)</a:t>
            </a:r>
          </a:p>
        </p:txBody>
      </p:sp>
      <p:sp>
        <p:nvSpPr>
          <p:cNvPr id="361" name="Forma 361"/>
          <p:cNvSpPr/>
          <p:nvPr/>
        </p:nvSpPr>
        <p:spPr>
          <a:xfrm>
            <a:off x="507001" y="3239999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6F7F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62" name="Forma 362"/>
          <p:cNvSpPr/>
          <p:nvPr/>
        </p:nvSpPr>
        <p:spPr>
          <a:xfrm>
            <a:off x="507001" y="3279999"/>
            <a:ext cx="60000" cy="375000"/>
          </a:xfrm>
          <a:prstGeom prst="rect">
            <a:avLst/>
          </a:prstGeom>
          <a:solidFill>
            <a:srgbClr val="F57C2B"/>
          </a:solidFill>
          <a:ln>
            <a:noFill/>
          </a:ln>
        </p:spPr>
        <p:txBody>
          <a:bodyPr/>
          <a:lstStyle/>
          <a:p>
            <a:pPr algn="ctr"/>
            <a:endParaRPr lang="es-CO"/>
          </a:p>
        </p:txBody>
      </p:sp>
      <p:sp>
        <p:nvSpPr>
          <p:cNvPr id="363" name="Texto 363"/>
          <p:cNvSpPr txBox="1"/>
          <p:nvPr/>
        </p:nvSpPr>
        <p:spPr>
          <a:xfrm>
            <a:off x="627001" y="3239999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F57C2B"/>
                </a:solidFill>
                <a:latin typeface="Arial"/>
                <a:cs typeface="Arial"/>
              </a:rPr>
              <a:t>Chen et al. (2022)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JMIR Medical Informatics</a:t>
            </a:r>
          </a:p>
        </p:txBody>
      </p:sp>
      <p:sp>
        <p:nvSpPr>
          <p:cNvPr id="364" name="Texto 364"/>
          <p:cNvSpPr txBox="1"/>
          <p:nvPr/>
        </p:nvSpPr>
        <p:spPr>
          <a:xfrm>
            <a:off x="2157001" y="3239999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PubMedBERT federado (Flower) en 3 hospitales para codificar CIE-10</a:t>
            </a:r>
          </a:p>
        </p:txBody>
      </p:sp>
      <p:sp>
        <p:nvSpPr>
          <p:cNvPr id="365" name="Texto 365"/>
          <p:cNvSpPr txBox="1"/>
          <p:nvPr/>
        </p:nvSpPr>
        <p:spPr>
          <a:xfrm>
            <a:off x="4077001" y="3239999"/>
            <a:ext cx="13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F57C2B"/>
                </a:solidFill>
                <a:latin typeface="Arial"/>
                <a:cs typeface="Arial"/>
              </a:rPr>
              <a:t>F1 de 0,61, mejor que cada hospital solo</a:t>
            </a:r>
          </a:p>
        </p:txBody>
      </p:sp>
      <p:sp>
        <p:nvSpPr>
          <p:cNvPr id="366" name="Forma 366"/>
          <p:cNvSpPr/>
          <p:nvPr/>
        </p:nvSpPr>
        <p:spPr>
          <a:xfrm>
            <a:off x="507001" y="3745000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67" name="Forma 367"/>
          <p:cNvSpPr/>
          <p:nvPr/>
        </p:nvSpPr>
        <p:spPr>
          <a:xfrm>
            <a:off x="507001" y="3785000"/>
            <a:ext cx="60000" cy="37500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txBody>
          <a:bodyPr/>
          <a:lstStyle/>
          <a:p>
            <a:pPr algn="ctr"/>
            <a:endParaRPr lang="es-CO"/>
          </a:p>
        </p:txBody>
      </p:sp>
      <p:sp>
        <p:nvSpPr>
          <p:cNvPr id="368" name="Texto 368"/>
          <p:cNvSpPr txBox="1"/>
          <p:nvPr/>
        </p:nvSpPr>
        <p:spPr>
          <a:xfrm>
            <a:off x="627001" y="3745000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1AA6B7"/>
                </a:solidFill>
                <a:latin typeface="Arial"/>
                <a:cs typeface="Arial"/>
              </a:rPr>
              <a:t>Correa et al. (2022)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Revista Médica de Chile</a:t>
            </a:r>
          </a:p>
        </p:txBody>
      </p:sp>
      <p:sp>
        <p:nvSpPr>
          <p:cNvPr id="369" name="Texto 369"/>
          <p:cNvSpPr txBox="1"/>
          <p:nvPr/>
        </p:nvSpPr>
        <p:spPr>
          <a:xfrm>
            <a:off x="2157001" y="3745000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Auditaron la codificación manual de 98 episodios en Cali</a:t>
            </a:r>
          </a:p>
        </p:txBody>
      </p:sp>
      <p:sp>
        <p:nvSpPr>
          <p:cNvPr id="370" name="Texto 370"/>
          <p:cNvSpPr txBox="1"/>
          <p:nvPr/>
        </p:nvSpPr>
        <p:spPr>
          <a:xfrm>
            <a:off x="4077001" y="3745000"/>
            <a:ext cx="1356203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1AA6B7"/>
                </a:solidFill>
                <a:latin typeface="Arial"/>
                <a:cs typeface="Arial"/>
              </a:rPr>
              <a:t>18,4 % de diagnósticos principales mal asignados</a:t>
            </a:r>
          </a:p>
        </p:txBody>
      </p:sp>
      <p:sp>
        <p:nvSpPr>
          <p:cNvPr id="371" name="Forma 371"/>
          <p:cNvSpPr/>
          <p:nvPr/>
        </p:nvSpPr>
        <p:spPr>
          <a:xfrm>
            <a:off x="507001" y="4250000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6F7F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72" name="Forma 372"/>
          <p:cNvSpPr/>
          <p:nvPr/>
        </p:nvSpPr>
        <p:spPr>
          <a:xfrm>
            <a:off x="507001" y="4290000"/>
            <a:ext cx="60000" cy="37500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txBody>
          <a:bodyPr/>
          <a:lstStyle/>
          <a:p>
            <a:pPr algn="ctr"/>
            <a:endParaRPr lang="es-CO"/>
          </a:p>
        </p:txBody>
      </p:sp>
      <p:sp>
        <p:nvSpPr>
          <p:cNvPr id="373" name="Texto 373"/>
          <p:cNvSpPr txBox="1"/>
          <p:nvPr/>
        </p:nvSpPr>
        <p:spPr>
          <a:xfrm>
            <a:off x="627001" y="4250000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1AA6B7"/>
                </a:solidFill>
                <a:latin typeface="Arial"/>
                <a:cs typeface="Arial"/>
              </a:rPr>
              <a:t>Soroush et al. (2024)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NEJM AI</a:t>
            </a:r>
          </a:p>
        </p:txBody>
      </p:sp>
      <p:sp>
        <p:nvSpPr>
          <p:cNvPr id="374" name="Texto 374"/>
          <p:cNvSpPr txBox="1"/>
          <p:nvPr/>
        </p:nvSpPr>
        <p:spPr>
          <a:xfrm>
            <a:off x="2157001" y="4250000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Pidieron 27.320 códigos a 4 LLM generales, sin ajustarlos</a:t>
            </a:r>
          </a:p>
        </p:txBody>
      </p:sp>
      <p:sp>
        <p:nvSpPr>
          <p:cNvPr id="375" name="Texto 375"/>
          <p:cNvSpPr txBox="1"/>
          <p:nvPr/>
        </p:nvSpPr>
        <p:spPr>
          <a:xfrm>
            <a:off x="4077001" y="4250000"/>
            <a:ext cx="13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1AA6B7"/>
                </a:solidFill>
                <a:latin typeface="Arial"/>
                <a:cs typeface="Arial"/>
              </a:rPr>
              <a:t>GPT-4 acertó solo el 33,9 % en CIE-10</a:t>
            </a:r>
          </a:p>
        </p:txBody>
      </p:sp>
      <p:sp>
        <p:nvSpPr>
          <p:cNvPr id="376" name="Forma 376"/>
          <p:cNvSpPr/>
          <p:nvPr/>
        </p:nvSpPr>
        <p:spPr>
          <a:xfrm>
            <a:off x="507001" y="4754999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77" name="Forma 377"/>
          <p:cNvSpPr/>
          <p:nvPr/>
        </p:nvSpPr>
        <p:spPr>
          <a:xfrm>
            <a:off x="507001" y="4794999"/>
            <a:ext cx="60000" cy="37500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txBody>
          <a:bodyPr/>
          <a:lstStyle/>
          <a:p>
            <a:pPr algn="ctr"/>
            <a:endParaRPr lang="es-CO"/>
          </a:p>
        </p:txBody>
      </p:sp>
      <p:sp>
        <p:nvSpPr>
          <p:cNvPr id="378" name="Texto 378"/>
          <p:cNvSpPr txBox="1"/>
          <p:nvPr/>
        </p:nvSpPr>
        <p:spPr>
          <a:xfrm>
            <a:off x="627001" y="4754999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1AA6B7"/>
                </a:solidFill>
                <a:latin typeface="Arial"/>
                <a:cs typeface="Arial"/>
              </a:rPr>
              <a:t>Dai et al. (2024)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Journal of Medical Internet Research</a:t>
            </a:r>
          </a:p>
        </p:txBody>
      </p:sp>
      <p:sp>
        <p:nvSpPr>
          <p:cNvPr id="379" name="Texto 379"/>
          <p:cNvSpPr txBox="1"/>
          <p:nvPr/>
        </p:nvSpPr>
        <p:spPr>
          <a:xfrm>
            <a:off x="2157001" y="4754999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Llevaron un modelo de codificación (GPT-2) a un hospital real</a:t>
            </a:r>
          </a:p>
        </p:txBody>
      </p:sp>
      <p:sp>
        <p:nvSpPr>
          <p:cNvPr id="380" name="Texto 380"/>
          <p:cNvSpPr txBox="1"/>
          <p:nvPr/>
        </p:nvSpPr>
        <p:spPr>
          <a:xfrm>
            <a:off x="4077001" y="4754999"/>
            <a:ext cx="13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1AA6B7"/>
                </a:solidFill>
                <a:latin typeface="Arial"/>
                <a:cs typeface="Arial"/>
              </a:rPr>
              <a:t>F1 de 0,621 con casos reales</a:t>
            </a:r>
          </a:p>
        </p:txBody>
      </p:sp>
      <p:sp>
        <p:nvSpPr>
          <p:cNvPr id="381" name="Forma 381"/>
          <p:cNvSpPr/>
          <p:nvPr/>
        </p:nvSpPr>
        <p:spPr>
          <a:xfrm>
            <a:off x="507001" y="5260000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6F7F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82" name="Forma 382"/>
          <p:cNvSpPr/>
          <p:nvPr/>
        </p:nvSpPr>
        <p:spPr>
          <a:xfrm>
            <a:off x="507001" y="5300000"/>
            <a:ext cx="60000" cy="375000"/>
          </a:xfrm>
          <a:prstGeom prst="rect">
            <a:avLst/>
          </a:prstGeom>
          <a:solidFill>
            <a:srgbClr val="7B4BA6"/>
          </a:solidFill>
          <a:ln>
            <a:noFill/>
          </a:ln>
        </p:spPr>
        <p:txBody>
          <a:bodyPr/>
          <a:lstStyle/>
          <a:p>
            <a:pPr algn="ctr"/>
            <a:endParaRPr lang="es-CO"/>
          </a:p>
        </p:txBody>
      </p:sp>
      <p:sp>
        <p:nvSpPr>
          <p:cNvPr id="383" name="Texto 383"/>
          <p:cNvSpPr txBox="1"/>
          <p:nvPr/>
        </p:nvSpPr>
        <p:spPr>
          <a:xfrm>
            <a:off x="627001" y="5260000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7B4BA6"/>
                </a:solidFill>
                <a:latin typeface="Arial"/>
                <a:cs typeface="Arial"/>
              </a:rPr>
              <a:t>Bermúdez Loaiza y Villalba Taborda (2024)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Ad-Gnosis</a:t>
            </a:r>
          </a:p>
        </p:txBody>
      </p:sp>
      <p:sp>
        <p:nvSpPr>
          <p:cNvPr id="384" name="Texto 384"/>
          <p:cNvSpPr txBox="1"/>
          <p:nvPr/>
        </p:nvSpPr>
        <p:spPr>
          <a:xfrm>
            <a:off x="2157001" y="5260000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Encuestaron a 16 directivos de 4 IPS privadas de Valledupar</a:t>
            </a:r>
          </a:p>
        </p:txBody>
      </p:sp>
      <p:sp>
        <p:nvSpPr>
          <p:cNvPr id="385" name="Texto 385"/>
          <p:cNvSpPr txBox="1"/>
          <p:nvPr/>
        </p:nvSpPr>
        <p:spPr>
          <a:xfrm>
            <a:off x="4077001" y="5260000"/>
            <a:ext cx="13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7B4BA6"/>
                </a:solidFill>
                <a:latin typeface="Arial"/>
                <a:cs typeface="Arial"/>
              </a:rPr>
              <a:t>Las IPS no tienen controles internos eficaces</a:t>
            </a:r>
          </a:p>
        </p:txBody>
      </p:sp>
      <p:sp>
        <p:nvSpPr>
          <p:cNvPr id="386" name="Forma 386"/>
          <p:cNvSpPr/>
          <p:nvPr/>
        </p:nvSpPr>
        <p:spPr>
          <a:xfrm>
            <a:off x="507001" y="5765000"/>
            <a:ext cx="4950000" cy="45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87" name="Forma 387"/>
          <p:cNvSpPr/>
          <p:nvPr/>
        </p:nvSpPr>
        <p:spPr>
          <a:xfrm>
            <a:off x="507001" y="5805000"/>
            <a:ext cx="60000" cy="375000"/>
          </a:xfrm>
          <a:prstGeom prst="rect">
            <a:avLst/>
          </a:prstGeom>
          <a:solidFill>
            <a:srgbClr val="7B4BA6"/>
          </a:solidFill>
          <a:ln>
            <a:noFill/>
          </a:ln>
        </p:spPr>
        <p:txBody>
          <a:bodyPr/>
          <a:lstStyle/>
          <a:p>
            <a:pPr algn="ctr"/>
            <a:endParaRPr lang="es-CO"/>
          </a:p>
        </p:txBody>
      </p:sp>
      <p:sp>
        <p:nvSpPr>
          <p:cNvPr id="388" name="Texto 388"/>
          <p:cNvSpPr txBox="1"/>
          <p:nvPr/>
        </p:nvSpPr>
        <p:spPr>
          <a:xfrm>
            <a:off x="627001" y="5765000"/>
            <a:ext cx="148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1" i="0" dirty="0">
                <a:solidFill>
                  <a:srgbClr val="7B4BA6"/>
                </a:solidFill>
                <a:latin typeface="Arial"/>
                <a:cs typeface="Arial"/>
              </a:rPr>
              <a:t>Jadoon et al. (2026)</a:t>
            </a:r>
          </a:p>
          <a:p>
            <a:pPr marL="0" indent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0" i="1" dirty="0">
                <a:latin typeface="Arial"/>
                <a:cs typeface="Arial"/>
              </a:rPr>
              <a:t>Frontiers in Health Services</a:t>
            </a:r>
          </a:p>
        </p:txBody>
      </p:sp>
      <p:sp>
        <p:nvSpPr>
          <p:cNvPr id="389" name="Texto 389"/>
          <p:cNvSpPr txBox="1"/>
          <p:nvPr/>
        </p:nvSpPr>
        <p:spPr>
          <a:xfrm>
            <a:off x="2157001" y="5765000"/>
            <a:ext cx="18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Random Forest en dos etapas sobre 678.881 líneas de reclamaciones</a:t>
            </a:r>
          </a:p>
        </p:txBody>
      </p:sp>
      <p:sp>
        <p:nvSpPr>
          <p:cNvPr id="390" name="Texto 390"/>
          <p:cNvSpPr txBox="1"/>
          <p:nvPr/>
        </p:nvSpPr>
        <p:spPr>
          <a:xfrm>
            <a:off x="4077001" y="5765000"/>
            <a:ext cx="1360000" cy="455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7B4BA6"/>
                </a:solidFill>
                <a:latin typeface="Arial"/>
                <a:cs typeface="Arial"/>
              </a:rPr>
              <a:t>PR-AUC de 0,777; el azar daría 0,330</a:t>
            </a:r>
          </a:p>
        </p:txBody>
      </p:sp>
      <p:sp>
        <p:nvSpPr>
          <p:cNvPr id="391" name="Texto 391"/>
          <p:cNvSpPr txBox="1"/>
          <p:nvPr/>
        </p:nvSpPr>
        <p:spPr>
          <a:xfrm>
            <a:off x="507001" y="6289999"/>
            <a:ext cx="49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latin typeface="Arial"/>
                <a:cs typeface="Arial"/>
              </a:rPr>
              <a:t>MAP, AUC, F1 y PR-AUC son medidas de acierto de 0 a 1 (1 = perfecto).</a:t>
            </a:r>
          </a:p>
        </p:txBody>
      </p:sp>
      <p:sp>
        <p:nvSpPr>
          <p:cNvPr id="392" name="Texto 392"/>
          <p:cNvSpPr txBox="1"/>
          <p:nvPr/>
        </p:nvSpPr>
        <p:spPr>
          <a:xfrm>
            <a:off x="5950000" y="1600000"/>
            <a:ext cx="29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 b="1" i="0" dirty="0">
                <a:solidFill>
                  <a:srgbClr val="F57C2B"/>
                </a:solidFill>
                <a:latin typeface="Arial"/>
                <a:cs typeface="Arial"/>
              </a:rPr>
              <a:t>Chen et al. (2022)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2B2D42"/>
                </a:solidFill>
                <a:latin typeface="Arial"/>
                <a:cs typeface="Arial"/>
              </a:rPr>
              <a:t>Aprendizaje federado entre tres hospitales</a:t>
            </a:r>
          </a:p>
        </p:txBody>
      </p:sp>
      <p:sp>
        <p:nvSpPr>
          <p:cNvPr id="393" name="Forma 393"/>
          <p:cNvSpPr/>
          <p:nvPr/>
        </p:nvSpPr>
        <p:spPr>
          <a:xfrm>
            <a:off x="5900000" y="2120000"/>
            <a:ext cx="2950000" cy="25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94" name="Imagen 3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000" y="2200000"/>
            <a:ext cx="2790000" cy="2387276"/>
          </a:xfrm>
          <a:prstGeom prst="rect">
            <a:avLst/>
          </a:prstGeom>
        </p:spPr>
      </p:pic>
      <p:sp>
        <p:nvSpPr>
          <p:cNvPr id="395" name="Forma 395"/>
          <p:cNvSpPr/>
          <p:nvPr/>
        </p:nvSpPr>
        <p:spPr>
          <a:xfrm>
            <a:off x="5900000" y="4840000"/>
            <a:ext cx="2950000" cy="660000"/>
          </a:xfrm>
          <a:prstGeom prst="roundRect">
            <a:avLst>
              <a:gd name="adj" fmla="val 14000"/>
            </a:avLst>
          </a:prstGeom>
          <a:solidFill>
            <a:srgbClr val="FDEFE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96" name="Texto 396"/>
          <p:cNvSpPr txBox="1"/>
          <p:nvPr/>
        </p:nvSpPr>
        <p:spPr>
          <a:xfrm>
            <a:off x="6000000" y="4840000"/>
            <a:ext cx="2780000" cy="6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2B2D42"/>
                </a:solidFill>
                <a:latin typeface="Arial"/>
                <a:cs typeface="Arial"/>
              </a:rPr>
              <a:t>Cada hospital entrena con sus datos y solo envía al servidor las actualizaciones del modelo.</a:t>
            </a:r>
          </a:p>
        </p:txBody>
      </p:sp>
      <p:sp>
        <p:nvSpPr>
          <p:cNvPr id="397" name="Texto 397"/>
          <p:cNvSpPr txBox="1"/>
          <p:nvPr/>
        </p:nvSpPr>
        <p:spPr>
          <a:xfrm>
            <a:off x="9100000" y="1600000"/>
            <a:ext cx="235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 b="1" i="0" dirty="0">
                <a:solidFill>
                  <a:srgbClr val="7B4BA6"/>
                </a:solidFill>
                <a:latin typeface="Arial"/>
                <a:cs typeface="Arial"/>
              </a:rPr>
              <a:t>Jadoon et al. (2026)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0" dirty="0">
                <a:solidFill>
                  <a:srgbClr val="2B2D42"/>
                </a:solidFill>
                <a:latin typeface="Arial"/>
                <a:cs typeface="Arial"/>
              </a:rPr>
              <a:t>Etapa 1: ¿se glosa? · Etapa 2: ¿por qué?</a:t>
            </a:r>
          </a:p>
        </p:txBody>
      </p:sp>
      <p:sp>
        <p:nvSpPr>
          <p:cNvPr id="398" name="Forma 398"/>
          <p:cNvSpPr/>
          <p:nvPr/>
        </p:nvSpPr>
        <p:spPr>
          <a:xfrm>
            <a:off x="9100000" y="2120000"/>
            <a:ext cx="2350000" cy="3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99" name="Imagen 39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894" y="2200000"/>
            <a:ext cx="2072210" cy="3240000"/>
          </a:xfrm>
          <a:prstGeom prst="rect">
            <a:avLst/>
          </a:prstGeom>
        </p:spPr>
      </p:pic>
      <p:sp>
        <p:nvSpPr>
          <p:cNvPr id="400" name="Forma 400"/>
          <p:cNvSpPr/>
          <p:nvPr/>
        </p:nvSpPr>
        <p:spPr>
          <a:xfrm>
            <a:off x="9129616" y="3148920"/>
            <a:ext cx="260000" cy="260000"/>
          </a:xfrm>
          <a:prstGeom prst="ellipse">
            <a:avLst/>
          </a:prstGeom>
          <a:solidFill>
            <a:srgbClr val="7B4BA6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1" name="Texto 401"/>
          <p:cNvSpPr txBox="1"/>
          <p:nvPr/>
        </p:nvSpPr>
        <p:spPr>
          <a:xfrm>
            <a:off x="9129616" y="3148920"/>
            <a:ext cx="2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02" name="Forma 402"/>
          <p:cNvSpPr/>
          <p:nvPr/>
        </p:nvSpPr>
        <p:spPr>
          <a:xfrm>
            <a:off x="10584308" y="3994560"/>
            <a:ext cx="260000" cy="260000"/>
          </a:xfrm>
          <a:prstGeom prst="ellipse">
            <a:avLst/>
          </a:prstGeom>
          <a:solidFill>
            <a:srgbClr val="7B4BA6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3" name="Texto 403"/>
          <p:cNvSpPr txBox="1"/>
          <p:nvPr/>
        </p:nvSpPr>
        <p:spPr>
          <a:xfrm>
            <a:off x="10584308" y="3994560"/>
            <a:ext cx="2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04" name="Texto 404"/>
          <p:cNvSpPr txBox="1"/>
          <p:nvPr/>
        </p:nvSpPr>
        <p:spPr>
          <a:xfrm>
            <a:off x="5900000" y="5620000"/>
            <a:ext cx="36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1" dirty="0">
                <a:latin typeface="Arial"/>
                <a:cs typeface="Arial"/>
              </a:rPr>
              <a:t>Figuras tomadas de Chen et al. (2022), JMIR Medical Informatics, y de Jadoon et al. (2026), Frontiers in Health Services. Licencia CC BY 4.0.</a:t>
            </a:r>
          </a:p>
        </p:txBody>
      </p:sp>
    </p:spTree>
    <p:extLst>
      <p:ext uri="{BB962C8B-B14F-4D97-AF65-F5344CB8AC3E}">
        <p14:creationId xmlns:p14="http://schemas.microsoft.com/office/powerpoint/2010/main" val="378065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971800" y="319232"/>
            <a:ext cx="6656833" cy="40011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MODALIDAD DE GRADO</a:t>
            </a: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5" name="Texto 405"/>
          <p:cNvSpPr txBox="1"/>
          <p:nvPr/>
        </p:nvSpPr>
        <p:spPr>
          <a:xfrm>
            <a:off x="850000" y="980000"/>
            <a:ext cx="10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dirty="0">
                <a:solidFill>
                  <a:srgbClr val="0B6DAE"/>
                </a:solidFill>
                <a:latin typeface="Arial"/>
                <a:cs typeface="Arial"/>
              </a:rPr>
              <a:t>TECNOLOGÍAS Y METODOLOGÍAS</a:t>
            </a:r>
          </a:p>
        </p:txBody>
      </p:sp>
      <p:sp>
        <p:nvSpPr>
          <p:cNvPr id="406" name="Texto 406"/>
          <p:cNvSpPr txBox="1"/>
          <p:nvPr/>
        </p:nvSpPr>
        <p:spPr>
          <a:xfrm>
            <a:off x="2200000" y="166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8D93A5"/>
                </a:solidFill>
                <a:latin typeface="Arial"/>
                <a:cs typeface="Arial"/>
              </a:rPr>
              <a:t>DESCARTAMOS</a:t>
            </a:r>
          </a:p>
        </p:txBody>
      </p:sp>
      <p:sp>
        <p:nvSpPr>
          <p:cNvPr id="407" name="Texto 407"/>
          <p:cNvSpPr txBox="1"/>
          <p:nvPr/>
        </p:nvSpPr>
        <p:spPr>
          <a:xfrm>
            <a:off x="4250000" y="1660000"/>
            <a:ext cx="26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B2D42"/>
                </a:solidFill>
                <a:latin typeface="Arial"/>
                <a:cs typeface="Arial"/>
              </a:rPr>
              <a:t>NOS QUEDAMOS CON</a:t>
            </a:r>
          </a:p>
        </p:txBody>
      </p:sp>
      <p:sp>
        <p:nvSpPr>
          <p:cNvPr id="408" name="Forma 408"/>
          <p:cNvSpPr/>
          <p:nvPr/>
        </p:nvSpPr>
        <p:spPr>
          <a:xfrm>
            <a:off x="850000" y="2000000"/>
            <a:ext cx="6100000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9" name="Forma 409"/>
          <p:cNvSpPr/>
          <p:nvPr/>
        </p:nvSpPr>
        <p:spPr>
          <a:xfrm>
            <a:off x="850000" y="2060000"/>
            <a:ext cx="70000" cy="880000"/>
          </a:xfrm>
          <a:prstGeom prst="rect">
            <a:avLst/>
          </a:prstGeom>
          <a:solidFill>
            <a:srgbClr val="1AA6B7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10" name="Forma 410"/>
          <p:cNvSpPr/>
          <p:nvPr/>
        </p:nvSpPr>
        <p:spPr>
          <a:xfrm>
            <a:off x="1270000" y="2100000"/>
            <a:ext cx="500000" cy="500000"/>
          </a:xfrm>
          <a:prstGeom prst="ellipse">
            <a:avLst/>
          </a:prstGeom>
          <a:solidFill>
            <a:srgbClr val="DCF1F4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11" name="Imagen 4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00" y="2200000"/>
            <a:ext cx="300000" cy="300000"/>
          </a:xfrm>
          <a:prstGeom prst="rect">
            <a:avLst/>
          </a:prstGeom>
        </p:spPr>
      </p:pic>
      <p:sp>
        <p:nvSpPr>
          <p:cNvPr id="412" name="Texto 412"/>
          <p:cNvSpPr txBox="1"/>
          <p:nvPr/>
        </p:nvSpPr>
        <p:spPr>
          <a:xfrm>
            <a:off x="950000" y="2640000"/>
            <a:ext cx="11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1AA6B7"/>
                </a:solidFill>
                <a:latin typeface="Arial"/>
                <a:cs typeface="Arial"/>
              </a:rPr>
              <a:t>CODIFICACIÓN</a:t>
            </a:r>
          </a:p>
        </p:txBody>
      </p:sp>
      <p:sp>
        <p:nvSpPr>
          <p:cNvPr id="413" name="Forma 413"/>
          <p:cNvSpPr/>
          <p:nvPr/>
        </p:nvSpPr>
        <p:spPr>
          <a:xfrm>
            <a:off x="2200000" y="2110000"/>
            <a:ext cx="1700000" cy="44000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14" name="Imagen 4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000" y="2200000"/>
            <a:ext cx="260000" cy="260000"/>
          </a:xfrm>
          <a:prstGeom prst="rect">
            <a:avLst/>
          </a:prstGeom>
        </p:spPr>
      </p:pic>
      <p:sp>
        <p:nvSpPr>
          <p:cNvPr id="415" name="Texto 415"/>
          <p:cNvSpPr txBox="1"/>
          <p:nvPr/>
        </p:nvSpPr>
        <p:spPr>
          <a:xfrm>
            <a:off x="2580000" y="2110000"/>
            <a:ext cx="13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8D93A5"/>
                </a:solidFill>
                <a:latin typeface="Arial"/>
                <a:cs typeface="Arial"/>
              </a:rPr>
              <a:t>LLM general sin ajuste</a:t>
            </a:r>
          </a:p>
        </p:txBody>
      </p:sp>
      <p:sp>
        <p:nvSpPr>
          <p:cNvPr id="416" name="Forma 416"/>
          <p:cNvSpPr/>
          <p:nvPr/>
        </p:nvSpPr>
        <p:spPr>
          <a:xfrm>
            <a:off x="3960000" y="2230000"/>
            <a:ext cx="240000" cy="200000"/>
          </a:xfrm>
          <a:prstGeom prst="rightArrow">
            <a:avLst/>
          </a:prstGeom>
          <a:solidFill>
            <a:srgbClr val="C9CDD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17" name="Forma 417"/>
          <p:cNvSpPr/>
          <p:nvPr/>
        </p:nvSpPr>
        <p:spPr>
          <a:xfrm>
            <a:off x="4250000" y="2089999"/>
            <a:ext cx="2600000" cy="48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5B0BF"/>
              </a:gs>
              <a:gs pos="100000">
                <a:srgbClr val="1AA6B7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18" name="Imagen 4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000" y="2180000"/>
            <a:ext cx="300000" cy="300000"/>
          </a:xfrm>
          <a:prstGeom prst="rect">
            <a:avLst/>
          </a:prstGeom>
        </p:spPr>
      </p:pic>
      <p:sp>
        <p:nvSpPr>
          <p:cNvPr id="419" name="Texto 419"/>
          <p:cNvSpPr txBox="1"/>
          <p:nvPr/>
        </p:nvSpPr>
        <p:spPr>
          <a:xfrm>
            <a:off x="4700000" y="2089999"/>
            <a:ext cx="21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FFFFFF"/>
                </a:solidFill>
                <a:latin typeface="Arial"/>
                <a:cs typeface="Arial"/>
              </a:rPr>
              <a:t>Modelo BERT ajustado en español</a:t>
            </a:r>
          </a:p>
        </p:txBody>
      </p:sp>
      <p:sp>
        <p:nvSpPr>
          <p:cNvPr id="420" name="Texto 420"/>
          <p:cNvSpPr txBox="1"/>
          <p:nvPr/>
        </p:nvSpPr>
        <p:spPr>
          <a:xfrm>
            <a:off x="2200000" y="2580000"/>
            <a:ext cx="46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GPT-4 sin ajuste acierta 33,9 % e inventa códigos </a:t>
            </a:r>
            <a:r>
              <a:rPr lang="es-CO" sz="850" b="1" i="0" dirty="0">
                <a:solidFill>
                  <a:srgbClr val="1AA6B7"/>
                </a:solidFill>
                <a:latin typeface="Arial"/>
                <a:cs typeface="Arial"/>
              </a:rPr>
              <a:t>(Soroush et al., 2024)</a:t>
            </a: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; los transformers en español sí codifican bien </a:t>
            </a:r>
            <a:r>
              <a:rPr lang="es-CO" sz="850" b="1" i="0" dirty="0">
                <a:solidFill>
                  <a:srgbClr val="1AA6B7"/>
                </a:solidFill>
                <a:latin typeface="Arial"/>
                <a:cs typeface="Arial"/>
              </a:rPr>
              <a:t>(López-García et al., 2021).</a:t>
            </a:r>
          </a:p>
        </p:txBody>
      </p:sp>
      <p:sp>
        <p:nvSpPr>
          <p:cNvPr id="421" name="Forma 421"/>
          <p:cNvSpPr/>
          <p:nvPr/>
        </p:nvSpPr>
        <p:spPr>
          <a:xfrm>
            <a:off x="850000" y="3100000"/>
            <a:ext cx="6100000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2" name="Forma 422"/>
          <p:cNvSpPr/>
          <p:nvPr/>
        </p:nvSpPr>
        <p:spPr>
          <a:xfrm>
            <a:off x="850000" y="3160000"/>
            <a:ext cx="70000" cy="880000"/>
          </a:xfrm>
          <a:prstGeom prst="rect">
            <a:avLst/>
          </a:prstGeom>
          <a:solidFill>
            <a:srgbClr val="F57C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23" name="Forma 423"/>
          <p:cNvSpPr/>
          <p:nvPr/>
        </p:nvSpPr>
        <p:spPr>
          <a:xfrm>
            <a:off x="1270000" y="3200000"/>
            <a:ext cx="500000" cy="500000"/>
          </a:xfrm>
          <a:prstGeom prst="ellipse">
            <a:avLst/>
          </a:prstGeom>
          <a:solidFill>
            <a:srgbClr val="FDEBD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24" name="Imagen 4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000" y="3300000"/>
            <a:ext cx="300000" cy="300000"/>
          </a:xfrm>
          <a:prstGeom prst="rect">
            <a:avLst/>
          </a:prstGeom>
        </p:spPr>
      </p:pic>
      <p:sp>
        <p:nvSpPr>
          <p:cNvPr id="425" name="Texto 425"/>
          <p:cNvSpPr txBox="1"/>
          <p:nvPr/>
        </p:nvSpPr>
        <p:spPr>
          <a:xfrm>
            <a:off x="950000" y="3740000"/>
            <a:ext cx="11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F57C2B"/>
                </a:solidFill>
                <a:latin typeface="Arial"/>
                <a:cs typeface="Arial"/>
              </a:rPr>
              <a:t>ENTRENAMIENTO</a:t>
            </a:r>
          </a:p>
        </p:txBody>
      </p:sp>
      <p:sp>
        <p:nvSpPr>
          <p:cNvPr id="426" name="Forma 426"/>
          <p:cNvSpPr/>
          <p:nvPr/>
        </p:nvSpPr>
        <p:spPr>
          <a:xfrm>
            <a:off x="2200000" y="3210000"/>
            <a:ext cx="1700000" cy="44000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27" name="Imagen 4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000" y="3300000"/>
            <a:ext cx="260000" cy="260000"/>
          </a:xfrm>
          <a:prstGeom prst="rect">
            <a:avLst/>
          </a:prstGeom>
        </p:spPr>
      </p:pic>
      <p:sp>
        <p:nvSpPr>
          <p:cNvPr id="428" name="Texto 428"/>
          <p:cNvSpPr txBox="1"/>
          <p:nvPr/>
        </p:nvSpPr>
        <p:spPr>
          <a:xfrm>
            <a:off x="2580000" y="3210000"/>
            <a:ext cx="13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8D93A5"/>
                </a:solidFill>
                <a:latin typeface="Arial"/>
                <a:cs typeface="Arial"/>
              </a:rPr>
              <a:t>Centralizado o cada IPS sola</a:t>
            </a:r>
          </a:p>
        </p:txBody>
      </p:sp>
      <p:sp>
        <p:nvSpPr>
          <p:cNvPr id="429" name="Forma 429"/>
          <p:cNvSpPr/>
          <p:nvPr/>
        </p:nvSpPr>
        <p:spPr>
          <a:xfrm>
            <a:off x="3960000" y="3330000"/>
            <a:ext cx="240000" cy="200000"/>
          </a:xfrm>
          <a:prstGeom prst="rightArrow">
            <a:avLst/>
          </a:prstGeom>
          <a:solidFill>
            <a:srgbClr val="C9CDD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30" name="Forma 430"/>
          <p:cNvSpPr/>
          <p:nvPr/>
        </p:nvSpPr>
        <p:spPr>
          <a:xfrm>
            <a:off x="4250000" y="3190000"/>
            <a:ext cx="2600000" cy="48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68B44"/>
              </a:gs>
              <a:gs pos="100000">
                <a:srgbClr val="F57C2B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31" name="Imagen 4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000" y="3280000"/>
            <a:ext cx="300000" cy="300000"/>
          </a:xfrm>
          <a:prstGeom prst="rect">
            <a:avLst/>
          </a:prstGeom>
        </p:spPr>
      </p:pic>
      <p:sp>
        <p:nvSpPr>
          <p:cNvPr id="432" name="Texto 432"/>
          <p:cNvSpPr txBox="1"/>
          <p:nvPr/>
        </p:nvSpPr>
        <p:spPr>
          <a:xfrm>
            <a:off x="4700000" y="3190000"/>
            <a:ext cx="21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FFFFFF"/>
                </a:solidFill>
                <a:latin typeface="Arial"/>
                <a:cs typeface="Arial"/>
              </a:rPr>
              <a:t>Aprendizaje federado (FedAvg)</a:t>
            </a:r>
          </a:p>
        </p:txBody>
      </p:sp>
      <p:sp>
        <p:nvSpPr>
          <p:cNvPr id="433" name="Texto 433"/>
          <p:cNvSpPr txBox="1"/>
          <p:nvPr/>
        </p:nvSpPr>
        <p:spPr>
          <a:xfrm>
            <a:off x="2200000" y="3680000"/>
            <a:ext cx="46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Los datos no salen de cada IPS y el modelo común supera a los locales </a:t>
            </a:r>
            <a:r>
              <a:rPr lang="es-CO" sz="850" b="1" i="0" dirty="0">
                <a:solidFill>
                  <a:srgbClr val="F57C2B"/>
                </a:solidFill>
                <a:latin typeface="Arial"/>
                <a:cs typeface="Arial"/>
              </a:rPr>
              <a:t>(Chen et al., 2022)</a:t>
            </a: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; se refuerza la privacidad, como recomiendan </a:t>
            </a:r>
            <a:r>
              <a:rPr lang="es-CO" sz="850" b="1" i="0" dirty="0">
                <a:solidFill>
                  <a:srgbClr val="F57C2B"/>
                </a:solidFill>
                <a:latin typeface="Arial"/>
                <a:cs typeface="Arial"/>
              </a:rPr>
              <a:t>Brauneck et al. (2023).</a:t>
            </a:r>
          </a:p>
        </p:txBody>
      </p:sp>
      <p:sp>
        <p:nvSpPr>
          <p:cNvPr id="434" name="Forma 434"/>
          <p:cNvSpPr/>
          <p:nvPr/>
        </p:nvSpPr>
        <p:spPr>
          <a:xfrm>
            <a:off x="850000" y="4200000"/>
            <a:ext cx="6100000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5" name="Forma 435"/>
          <p:cNvSpPr/>
          <p:nvPr/>
        </p:nvSpPr>
        <p:spPr>
          <a:xfrm>
            <a:off x="850000" y="4260000"/>
            <a:ext cx="70000" cy="880000"/>
          </a:xfrm>
          <a:prstGeom prst="rect">
            <a:avLst/>
          </a:prstGeom>
          <a:solidFill>
            <a:srgbClr val="7B4BA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36" name="Forma 436"/>
          <p:cNvSpPr/>
          <p:nvPr/>
        </p:nvSpPr>
        <p:spPr>
          <a:xfrm>
            <a:off x="1270000" y="4300000"/>
            <a:ext cx="500000" cy="500000"/>
          </a:xfrm>
          <a:prstGeom prst="ellipse">
            <a:avLst/>
          </a:prstGeom>
          <a:solidFill>
            <a:srgbClr val="EBE4F1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37" name="Imagen 4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000" y="4399999"/>
            <a:ext cx="300000" cy="300000"/>
          </a:xfrm>
          <a:prstGeom prst="rect">
            <a:avLst/>
          </a:prstGeom>
        </p:spPr>
      </p:pic>
      <p:sp>
        <p:nvSpPr>
          <p:cNvPr id="438" name="Texto 438"/>
          <p:cNvSpPr txBox="1"/>
          <p:nvPr/>
        </p:nvSpPr>
        <p:spPr>
          <a:xfrm>
            <a:off x="950000" y="4840000"/>
            <a:ext cx="11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7B4BA6"/>
                </a:solidFill>
                <a:latin typeface="Arial"/>
                <a:cs typeface="Arial"/>
              </a:rPr>
              <a:t>AUDITORÍA</a:t>
            </a:r>
          </a:p>
        </p:txBody>
      </p:sp>
      <p:sp>
        <p:nvSpPr>
          <p:cNvPr id="439" name="Forma 439"/>
          <p:cNvSpPr/>
          <p:nvPr/>
        </p:nvSpPr>
        <p:spPr>
          <a:xfrm>
            <a:off x="2200000" y="4310000"/>
            <a:ext cx="1700000" cy="44000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40" name="Imagen 4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000" y="4400000"/>
            <a:ext cx="260000" cy="260000"/>
          </a:xfrm>
          <a:prstGeom prst="rect">
            <a:avLst/>
          </a:prstGeom>
        </p:spPr>
      </p:pic>
      <p:sp>
        <p:nvSpPr>
          <p:cNvPr id="441" name="Texto 441"/>
          <p:cNvSpPr txBox="1"/>
          <p:nvPr/>
        </p:nvSpPr>
        <p:spPr>
          <a:xfrm>
            <a:off x="2580000" y="4310000"/>
            <a:ext cx="13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8D93A5"/>
                </a:solidFill>
                <a:latin typeface="Arial"/>
                <a:cs typeface="Arial"/>
              </a:rPr>
              <a:t>Revisión manual de cada cuenta</a:t>
            </a:r>
          </a:p>
        </p:txBody>
      </p:sp>
      <p:sp>
        <p:nvSpPr>
          <p:cNvPr id="442" name="Forma 442"/>
          <p:cNvSpPr/>
          <p:nvPr/>
        </p:nvSpPr>
        <p:spPr>
          <a:xfrm>
            <a:off x="3960000" y="4430000"/>
            <a:ext cx="240000" cy="200000"/>
          </a:xfrm>
          <a:prstGeom prst="rightArrow">
            <a:avLst/>
          </a:prstGeom>
          <a:solidFill>
            <a:srgbClr val="C9CDD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43" name="Forma 443"/>
          <p:cNvSpPr/>
          <p:nvPr/>
        </p:nvSpPr>
        <p:spPr>
          <a:xfrm>
            <a:off x="4250000" y="4290000"/>
            <a:ext cx="2600000" cy="48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A60B0"/>
              </a:gs>
              <a:gs pos="100000">
                <a:srgbClr val="7B4BA6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44" name="Imagen 4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000" y="4380000"/>
            <a:ext cx="300000" cy="300000"/>
          </a:xfrm>
          <a:prstGeom prst="rect">
            <a:avLst/>
          </a:prstGeom>
        </p:spPr>
      </p:pic>
      <p:sp>
        <p:nvSpPr>
          <p:cNvPr id="445" name="Texto 445"/>
          <p:cNvSpPr txBox="1"/>
          <p:nvPr/>
        </p:nvSpPr>
        <p:spPr>
          <a:xfrm>
            <a:off x="4700000" y="4290000"/>
            <a:ext cx="21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FFFFFF"/>
                </a:solidFill>
                <a:latin typeface="Arial"/>
                <a:cs typeface="Arial"/>
              </a:rPr>
              <a:t>Random Forest en dos etapas</a:t>
            </a:r>
          </a:p>
        </p:txBody>
      </p:sp>
      <p:sp>
        <p:nvSpPr>
          <p:cNvPr id="446" name="Texto 446"/>
          <p:cNvSpPr txBox="1"/>
          <p:nvPr/>
        </p:nvSpPr>
        <p:spPr>
          <a:xfrm>
            <a:off x="2200000" y="4780000"/>
            <a:ext cx="46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Primero estima si la cuenta será glosada y luego por qué: PR-AUC 0,777 </a:t>
            </a:r>
            <a:r>
              <a:rPr lang="es-CO" sz="850" b="1" i="0" dirty="0">
                <a:solidFill>
                  <a:srgbClr val="7B4BA6"/>
                </a:solidFill>
                <a:latin typeface="Arial"/>
                <a:cs typeface="Arial"/>
              </a:rPr>
              <a:t>(Jadoon et al., 2026)</a:t>
            </a: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; se reentrena porque pierde precisión con el tiempo </a:t>
            </a:r>
            <a:r>
              <a:rPr lang="es-CO" sz="850" b="1" i="0" dirty="0">
                <a:solidFill>
                  <a:srgbClr val="7B4BA6"/>
                </a:solidFill>
                <a:latin typeface="Arial"/>
                <a:cs typeface="Arial"/>
              </a:rPr>
              <a:t>(Russell et al., 2024).</a:t>
            </a:r>
          </a:p>
        </p:txBody>
      </p:sp>
      <p:sp>
        <p:nvSpPr>
          <p:cNvPr id="447" name="Forma 447"/>
          <p:cNvSpPr/>
          <p:nvPr/>
        </p:nvSpPr>
        <p:spPr>
          <a:xfrm>
            <a:off x="850000" y="5300000"/>
            <a:ext cx="6100000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48" name="Forma 448"/>
          <p:cNvSpPr/>
          <p:nvPr/>
        </p:nvSpPr>
        <p:spPr>
          <a:xfrm>
            <a:off x="850000" y="5360000"/>
            <a:ext cx="70000" cy="880000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49" name="Forma 449"/>
          <p:cNvSpPr/>
          <p:nvPr/>
        </p:nvSpPr>
        <p:spPr>
          <a:xfrm>
            <a:off x="1270000" y="5400000"/>
            <a:ext cx="500000" cy="500000"/>
          </a:xfrm>
          <a:prstGeom prst="ellipse">
            <a:avLst/>
          </a:prstGeom>
          <a:solidFill>
            <a:srgbClr val="DFF4E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50" name="Imagen 4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0000" y="5500000"/>
            <a:ext cx="300000" cy="300000"/>
          </a:xfrm>
          <a:prstGeom prst="rect">
            <a:avLst/>
          </a:prstGeom>
        </p:spPr>
      </p:pic>
      <p:sp>
        <p:nvSpPr>
          <p:cNvPr id="451" name="Texto 451"/>
          <p:cNvSpPr txBox="1"/>
          <p:nvPr/>
        </p:nvSpPr>
        <p:spPr>
          <a:xfrm>
            <a:off x="950000" y="5940000"/>
            <a:ext cx="11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2DB87D"/>
                </a:solidFill>
                <a:latin typeface="Arial"/>
                <a:cs typeface="Arial"/>
              </a:rPr>
              <a:t>EVALUACIÓN</a:t>
            </a:r>
          </a:p>
        </p:txBody>
      </p:sp>
      <p:sp>
        <p:nvSpPr>
          <p:cNvPr id="452" name="Forma 452"/>
          <p:cNvSpPr/>
          <p:nvPr/>
        </p:nvSpPr>
        <p:spPr>
          <a:xfrm>
            <a:off x="2200000" y="5410000"/>
            <a:ext cx="1700000" cy="44000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453" name="Imagen 4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000" y="5500000"/>
            <a:ext cx="260000" cy="260000"/>
          </a:xfrm>
          <a:prstGeom prst="rect">
            <a:avLst/>
          </a:prstGeom>
        </p:spPr>
      </p:pic>
      <p:sp>
        <p:nvSpPr>
          <p:cNvPr id="454" name="Texto 454"/>
          <p:cNvSpPr txBox="1"/>
          <p:nvPr/>
        </p:nvSpPr>
        <p:spPr>
          <a:xfrm>
            <a:off x="2580000" y="5410000"/>
            <a:ext cx="13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8D93A5"/>
                </a:solidFill>
                <a:latin typeface="Arial"/>
                <a:cs typeface="Arial"/>
              </a:rPr>
              <a:t>AUC o exactitud por sí solos</a:t>
            </a:r>
          </a:p>
        </p:txBody>
      </p:sp>
      <p:sp>
        <p:nvSpPr>
          <p:cNvPr id="455" name="Forma 455"/>
          <p:cNvSpPr/>
          <p:nvPr/>
        </p:nvSpPr>
        <p:spPr>
          <a:xfrm>
            <a:off x="3960000" y="5530000"/>
            <a:ext cx="240000" cy="200000"/>
          </a:xfrm>
          <a:prstGeom prst="rightArrow">
            <a:avLst/>
          </a:prstGeom>
          <a:solidFill>
            <a:srgbClr val="C9CDD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56" name="Forma 456"/>
          <p:cNvSpPr/>
          <p:nvPr/>
        </p:nvSpPr>
        <p:spPr>
          <a:xfrm>
            <a:off x="4250000" y="5390000"/>
            <a:ext cx="2600000" cy="48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6C08C"/>
              </a:gs>
              <a:gs pos="100000">
                <a:srgbClr val="2DB87D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57" name="Imagen 4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000" y="5480000"/>
            <a:ext cx="300000" cy="300000"/>
          </a:xfrm>
          <a:prstGeom prst="rect">
            <a:avLst/>
          </a:prstGeom>
        </p:spPr>
      </p:pic>
      <p:sp>
        <p:nvSpPr>
          <p:cNvPr id="458" name="Texto 458"/>
          <p:cNvSpPr txBox="1"/>
          <p:nvPr/>
        </p:nvSpPr>
        <p:spPr>
          <a:xfrm>
            <a:off x="4700000" y="5390000"/>
            <a:ext cx="21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50" b="1" i="0" dirty="0">
                <a:solidFill>
                  <a:srgbClr val="FFFFFF"/>
                </a:solidFill>
                <a:latin typeface="Arial"/>
                <a:cs typeface="Arial"/>
              </a:rPr>
              <a:t>PR-AUC y F1, explicadas con SHAP</a:t>
            </a:r>
          </a:p>
        </p:txBody>
      </p:sp>
      <p:sp>
        <p:nvSpPr>
          <p:cNvPr id="459" name="Texto 459"/>
          <p:cNvSpPr txBox="1"/>
          <p:nvPr/>
        </p:nvSpPr>
        <p:spPr>
          <a:xfrm>
            <a:off x="2200000" y="5880000"/>
            <a:ext cx="46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Con pocas glosas, el AUC sobrestima el desempeño </a:t>
            </a:r>
            <a:r>
              <a:rPr lang="es-CO" sz="850" b="1" i="0" dirty="0">
                <a:solidFill>
                  <a:srgbClr val="2DB87D"/>
                </a:solidFill>
                <a:latin typeface="Arial"/>
                <a:cs typeface="Arial"/>
              </a:rPr>
              <a:t>(Hancock et al., 2023)</a:t>
            </a:r>
            <a:r>
              <a:rPr lang="es-CO" sz="850" b="0" i="0" dirty="0">
                <a:solidFill>
                  <a:srgbClr val="4A4E5A"/>
                </a:solidFill>
                <a:latin typeface="Arial"/>
                <a:cs typeface="Arial"/>
              </a:rPr>
              <a:t>; SHAP muestra cuánto pesó cada variable en la decisión </a:t>
            </a:r>
            <a:r>
              <a:rPr lang="es-CO" sz="850" b="1" i="0" dirty="0">
                <a:solidFill>
                  <a:srgbClr val="2DB87D"/>
                </a:solidFill>
                <a:latin typeface="Arial"/>
                <a:cs typeface="Arial"/>
              </a:rPr>
              <a:t>(Ocampo Osorio et al., 2025).</a:t>
            </a:r>
          </a:p>
        </p:txBody>
      </p:sp>
      <p:sp>
        <p:nvSpPr>
          <p:cNvPr id="460" name="Texto 460"/>
          <p:cNvSpPr txBox="1"/>
          <p:nvPr/>
        </p:nvSpPr>
        <p:spPr>
          <a:xfrm>
            <a:off x="7150000" y="1600000"/>
            <a:ext cx="43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 b="1" i="0" dirty="0">
                <a:solidFill>
                  <a:srgbClr val="2B2D42"/>
                </a:solidFill>
                <a:latin typeface="Arial"/>
                <a:cs typeface="Arial"/>
              </a:rPr>
              <a:t>Tres formas de entrenar un modelo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0" i="1" dirty="0">
                <a:solidFill>
                  <a:srgbClr val="8D93A5"/>
                </a:solidFill>
                <a:latin typeface="Arial"/>
                <a:cs typeface="Arial"/>
              </a:rPr>
              <a:t>Peng et al. (2024), npj Digital Medicine. Licencia CC BY 4.0</a:t>
            </a:r>
          </a:p>
        </p:txBody>
      </p:sp>
      <p:sp>
        <p:nvSpPr>
          <p:cNvPr id="461" name="Forma 461"/>
          <p:cNvSpPr/>
          <p:nvPr/>
        </p:nvSpPr>
        <p:spPr>
          <a:xfrm>
            <a:off x="7150000" y="2100000"/>
            <a:ext cx="4300000" cy="24633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62" name="Imagen 4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0000" y="2200000"/>
            <a:ext cx="4099999" cy="2263321"/>
          </a:xfrm>
          <a:prstGeom prst="rect">
            <a:avLst/>
          </a:prstGeom>
        </p:spPr>
      </p:pic>
      <p:sp>
        <p:nvSpPr>
          <p:cNvPr id="463" name="Forma 463"/>
          <p:cNvSpPr/>
          <p:nvPr/>
        </p:nvSpPr>
        <p:spPr>
          <a:xfrm>
            <a:off x="9409650" y="2160000"/>
            <a:ext cx="1955179" cy="1320299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F57C2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64" name="Forma 464"/>
          <p:cNvSpPr/>
          <p:nvPr/>
        </p:nvSpPr>
        <p:spPr>
          <a:xfrm>
            <a:off x="10504830" y="2030000"/>
            <a:ext cx="860000" cy="240000"/>
          </a:xfrm>
          <a:prstGeom prst="roundRect">
            <a:avLst>
              <a:gd name="adj" fmla="val 50000"/>
            </a:avLst>
          </a:prstGeom>
          <a:solidFill>
            <a:srgbClr val="F57C2B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65" name="Texto 465"/>
          <p:cNvSpPr txBox="1"/>
          <p:nvPr/>
        </p:nvSpPr>
        <p:spPr>
          <a:xfrm>
            <a:off x="10504830" y="2030000"/>
            <a:ext cx="86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i="0" dirty="0">
                <a:solidFill>
                  <a:srgbClr val="FFFFFF"/>
                </a:solidFill>
                <a:latin typeface="Arial"/>
                <a:cs typeface="Arial"/>
              </a:rPr>
              <a:t>ELEGIDO</a:t>
            </a:r>
          </a:p>
        </p:txBody>
      </p:sp>
      <p:sp>
        <p:nvSpPr>
          <p:cNvPr id="466" name="Forma 466"/>
          <p:cNvSpPr/>
          <p:nvPr/>
        </p:nvSpPr>
        <p:spPr>
          <a:xfrm>
            <a:off x="7150000" y="4623754"/>
            <a:ext cx="2752000" cy="14722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67" name="Imagen 46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0000" y="4703320"/>
            <a:ext cx="2587200" cy="1316479"/>
          </a:xfrm>
          <a:prstGeom prst="rect">
            <a:avLst/>
          </a:prstGeom>
        </p:spPr>
      </p:pic>
      <p:sp>
        <p:nvSpPr>
          <p:cNvPr id="468" name="Texto 468"/>
          <p:cNvSpPr txBox="1"/>
          <p:nvPr/>
        </p:nvSpPr>
        <p:spPr>
          <a:xfrm>
            <a:off x="10072229" y="4634981"/>
            <a:ext cx="1699541" cy="936678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900" b="1" i="0" dirty="0">
                <a:solidFill>
                  <a:srgbClr val="2B2D42"/>
                </a:solidFill>
                <a:latin typeface="Arial"/>
                <a:cs typeface="Arial"/>
              </a:rPr>
              <a:t>Explicación con SHAP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O" sz="800" b="0" i="0" dirty="0">
                <a:solidFill>
                  <a:srgbClr val="4A4E5A"/>
                </a:solidFill>
                <a:latin typeface="Arial"/>
                <a:cs typeface="Arial"/>
              </a:rPr>
              <a:t>Cada punto es un caso; muestra hacia dónde empujó cada variable la predicción.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" b="1" i="1" dirty="0">
                <a:solidFill>
                  <a:srgbClr val="0070C0"/>
                </a:solidFill>
                <a:latin typeface="Arial"/>
                <a:cs typeface="Arial"/>
              </a:rPr>
              <a:t>Ocampo Osorio et al. (2025), PeerJ Computer Science. CC BY 4.0</a:t>
            </a:r>
          </a:p>
        </p:txBody>
      </p:sp>
    </p:spTree>
    <p:extLst>
      <p:ext uri="{BB962C8B-B14F-4D97-AF65-F5344CB8AC3E}">
        <p14:creationId xmlns:p14="http://schemas.microsoft.com/office/powerpoint/2010/main" val="378065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971800" y="319232"/>
            <a:ext cx="6656833" cy="40011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MODALIDAD DE GRADO</a:t>
            </a: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o 120"/>
          <p:cNvSpPr txBox="1"/>
          <p:nvPr/>
        </p:nvSpPr>
        <p:spPr>
          <a:xfrm>
            <a:off x="850000" y="980000"/>
            <a:ext cx="10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dirty="0">
                <a:solidFill>
                  <a:srgbClr val="0B6DAE"/>
                </a:solidFill>
                <a:latin typeface="Arial"/>
                <a:cs typeface="Arial"/>
              </a:rPr>
              <a:t>PLANTEAMIENTO DEL PROBLEMA</a:t>
            </a:r>
          </a:p>
        </p:txBody>
      </p:sp>
      <p:sp>
        <p:nvSpPr>
          <p:cNvPr id="123" name="Texto 123"/>
          <p:cNvSpPr txBox="1"/>
          <p:nvPr/>
        </p:nvSpPr>
        <p:spPr>
          <a:xfrm>
            <a:off x="1150000" y="1520000"/>
            <a:ext cx="10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 b="0" i="0" dirty="0">
                <a:solidFill>
                  <a:srgbClr val="2B2D42"/>
                </a:solidFill>
                <a:latin typeface="Arial"/>
                <a:cs typeface="Arial"/>
              </a:rPr>
              <a:t>Una </a:t>
            </a:r>
            <a:r>
              <a:rPr lang="es-CO" sz="1050" b="1" i="0" dirty="0">
                <a:solidFill>
                  <a:srgbClr val="0070C0"/>
                </a:solidFill>
                <a:latin typeface="Arial"/>
                <a:cs typeface="Arial"/>
              </a:rPr>
              <a:t>glosa</a:t>
            </a:r>
            <a:r>
              <a:rPr lang="es-CO" sz="1050" b="0" i="0" dirty="0">
                <a:solidFill>
                  <a:srgbClr val="2B2D42"/>
                </a:solidFill>
                <a:latin typeface="Arial"/>
                <a:cs typeface="Arial"/>
              </a:rPr>
              <a:t> es la objeción total o parcial que hace la EPS a una cuenta, por errores de codificación o de soportes (Resolución 2284 de 2023). En algunos estudios colombianos cerca del 30 % de lo facturado es devuelto (Pasichaná Ramos et al., 2025); en Valledupar, las IPS privadas carecen de controles internos eficaces (Bermúdez Loaiza y Villalba Taborda, 2024), y de los 47 antecedentes revisados, ninguno del Caribe aplica IA a la codificación o la auditoría.</a:t>
            </a:r>
          </a:p>
        </p:txBody>
      </p:sp>
      <p:sp>
        <p:nvSpPr>
          <p:cNvPr id="124" name="Texto 124"/>
          <p:cNvSpPr txBox="1"/>
          <p:nvPr/>
        </p:nvSpPr>
        <p:spPr>
          <a:xfrm>
            <a:off x="850000" y="242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i="0" dirty="0">
                <a:solidFill>
                  <a:srgbClr val="2B2D42"/>
                </a:solidFill>
                <a:latin typeface="Arial"/>
                <a:cs typeface="Arial"/>
              </a:rPr>
              <a:t>CAUSAS</a:t>
            </a:r>
          </a:p>
        </p:txBody>
      </p:sp>
      <p:sp>
        <p:nvSpPr>
          <p:cNvPr id="125" name="Texto 125"/>
          <p:cNvSpPr txBox="1"/>
          <p:nvPr/>
        </p:nvSpPr>
        <p:spPr>
          <a:xfrm>
            <a:off x="8000000" y="2420000"/>
            <a:ext cx="34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i="0" dirty="0">
                <a:solidFill>
                  <a:srgbClr val="2B2D42"/>
                </a:solidFill>
                <a:latin typeface="Arial"/>
                <a:cs typeface="Arial"/>
              </a:rPr>
              <a:t>EFECTOS</a:t>
            </a:r>
          </a:p>
        </p:txBody>
      </p:sp>
      <p:cxnSp>
        <p:nvCxnSpPr>
          <p:cNvPr id="126" name="Línea 126"/>
          <p:cNvCxnSpPr/>
          <p:nvPr/>
        </p:nvCxnSpPr>
        <p:spPr>
          <a:xfrm flipH="1">
            <a:off x="5264130" y="2812449"/>
            <a:ext cx="219999" cy="187550"/>
          </a:xfrm>
          <a:prstGeom prst="line">
            <a:avLst/>
          </a:prstGeom>
          <a:ln w="15875">
            <a:solidFill>
              <a:srgbClr val="E63950"/>
            </a:solidFill>
            <a:headEnd type="oval" w="med" len="med"/>
          </a:ln>
        </p:spPr>
      </p:cxnSp>
      <p:cxnSp>
        <p:nvCxnSpPr>
          <p:cNvPr id="127" name="Línea 127"/>
          <p:cNvCxnSpPr/>
          <p:nvPr/>
        </p:nvCxnSpPr>
        <p:spPr>
          <a:xfrm flipH="1">
            <a:off x="4300000" y="3000000"/>
            <a:ext cx="964130" cy="0"/>
          </a:xfrm>
          <a:prstGeom prst="line">
            <a:avLst/>
          </a:prstGeom>
          <a:ln w="15875">
            <a:solidFill>
              <a:srgbClr val="E63950"/>
            </a:solidFill>
            <a:tailEnd type="oval" w="med" len="med"/>
          </a:ln>
        </p:spPr>
      </p:cxnSp>
      <p:cxnSp>
        <p:nvCxnSpPr>
          <p:cNvPr id="128" name="Línea 128"/>
          <p:cNvCxnSpPr/>
          <p:nvPr/>
        </p:nvCxnSpPr>
        <p:spPr>
          <a:xfrm flipH="1">
            <a:off x="4322449" y="3754130"/>
            <a:ext cx="219999" cy="95869"/>
          </a:xfrm>
          <a:prstGeom prst="line">
            <a:avLst/>
          </a:prstGeom>
          <a:ln w="15875">
            <a:solidFill>
              <a:srgbClr val="F57C2B"/>
            </a:solidFill>
            <a:headEnd type="oval" w="med" len="med"/>
          </a:ln>
        </p:spPr>
      </p:cxnSp>
      <p:cxnSp>
        <p:nvCxnSpPr>
          <p:cNvPr id="129" name="Línea 129"/>
          <p:cNvCxnSpPr/>
          <p:nvPr/>
        </p:nvCxnSpPr>
        <p:spPr>
          <a:xfrm flipH="1">
            <a:off x="4300000" y="3850000"/>
            <a:ext cx="22449" cy="0"/>
          </a:xfrm>
          <a:prstGeom prst="line">
            <a:avLst/>
          </a:prstGeom>
          <a:ln w="15875">
            <a:solidFill>
              <a:srgbClr val="F57C2B"/>
            </a:solidFill>
            <a:tailEnd type="oval" w="med" len="med"/>
          </a:ln>
        </p:spPr>
      </p:cxnSp>
      <p:cxnSp>
        <p:nvCxnSpPr>
          <p:cNvPr id="130" name="Línea 130"/>
          <p:cNvCxnSpPr/>
          <p:nvPr/>
        </p:nvCxnSpPr>
        <p:spPr>
          <a:xfrm flipH="1" flipV="1">
            <a:off x="4322449" y="4700000"/>
            <a:ext cx="219999" cy="385869"/>
          </a:xfrm>
          <a:prstGeom prst="line">
            <a:avLst/>
          </a:prstGeom>
          <a:ln w="15875">
            <a:solidFill>
              <a:srgbClr val="F7B32B"/>
            </a:solidFill>
            <a:headEnd type="oval" w="med" len="med"/>
          </a:ln>
        </p:spPr>
      </p:cxnSp>
      <p:cxnSp>
        <p:nvCxnSpPr>
          <p:cNvPr id="131" name="Línea 131"/>
          <p:cNvCxnSpPr/>
          <p:nvPr/>
        </p:nvCxnSpPr>
        <p:spPr>
          <a:xfrm flipH="1">
            <a:off x="4300000" y="4700000"/>
            <a:ext cx="22449" cy="0"/>
          </a:xfrm>
          <a:prstGeom prst="line">
            <a:avLst/>
          </a:prstGeom>
          <a:ln w="15875">
            <a:solidFill>
              <a:srgbClr val="F7B32B"/>
            </a:solidFill>
            <a:tailEnd type="oval" w="med" len="med"/>
          </a:ln>
        </p:spPr>
      </p:cxnSp>
      <p:cxnSp>
        <p:nvCxnSpPr>
          <p:cNvPr id="132" name="Línea 132"/>
          <p:cNvCxnSpPr/>
          <p:nvPr/>
        </p:nvCxnSpPr>
        <p:spPr>
          <a:xfrm flipH="1" flipV="1">
            <a:off x="5264130" y="5550000"/>
            <a:ext cx="219999" cy="477550"/>
          </a:xfrm>
          <a:prstGeom prst="line">
            <a:avLst/>
          </a:prstGeom>
          <a:ln w="15875">
            <a:solidFill>
              <a:srgbClr val="7B4BA6"/>
            </a:solidFill>
            <a:headEnd type="oval" w="med" len="med"/>
          </a:ln>
        </p:spPr>
      </p:cxnSp>
      <p:cxnSp>
        <p:nvCxnSpPr>
          <p:cNvPr id="133" name="Línea 133"/>
          <p:cNvCxnSpPr/>
          <p:nvPr/>
        </p:nvCxnSpPr>
        <p:spPr>
          <a:xfrm flipH="1">
            <a:off x="4300000" y="5550000"/>
            <a:ext cx="964130" cy="0"/>
          </a:xfrm>
          <a:prstGeom prst="line">
            <a:avLst/>
          </a:prstGeom>
          <a:ln w="15875">
            <a:solidFill>
              <a:srgbClr val="7B4BA6"/>
            </a:solidFill>
            <a:tailEnd type="oval" w="med" len="med"/>
          </a:ln>
        </p:spPr>
      </p:cxnSp>
      <p:cxnSp>
        <p:nvCxnSpPr>
          <p:cNvPr id="134" name="Línea 134"/>
          <p:cNvCxnSpPr/>
          <p:nvPr/>
        </p:nvCxnSpPr>
        <p:spPr>
          <a:xfrm>
            <a:off x="7020000" y="2913115"/>
            <a:ext cx="219999" cy="286884"/>
          </a:xfrm>
          <a:prstGeom prst="line">
            <a:avLst/>
          </a:prstGeom>
          <a:ln w="15875">
            <a:solidFill>
              <a:srgbClr val="1AA6B7"/>
            </a:solidFill>
            <a:headEnd type="oval" w="med" len="med"/>
          </a:ln>
        </p:spPr>
      </p:cxnSp>
      <p:cxnSp>
        <p:nvCxnSpPr>
          <p:cNvPr id="135" name="Línea 135"/>
          <p:cNvCxnSpPr/>
          <p:nvPr/>
        </p:nvCxnSpPr>
        <p:spPr>
          <a:xfrm>
            <a:off x="7240000" y="3200000"/>
            <a:ext cx="759999" cy="0"/>
          </a:xfrm>
          <a:prstGeom prst="line">
            <a:avLst/>
          </a:prstGeom>
          <a:ln w="15875">
            <a:solidFill>
              <a:srgbClr val="1AA6B7"/>
            </a:solidFill>
            <a:tailEnd type="oval" w="med" len="med"/>
          </a:ln>
        </p:spPr>
      </p:cxnSp>
      <p:cxnSp>
        <p:nvCxnSpPr>
          <p:cNvPr id="136" name="Línea 136"/>
          <p:cNvCxnSpPr/>
          <p:nvPr/>
        </p:nvCxnSpPr>
        <p:spPr>
          <a:xfrm flipV="1">
            <a:off x="7890000" y="4100000"/>
            <a:ext cx="220000" cy="319999"/>
          </a:xfrm>
          <a:prstGeom prst="line">
            <a:avLst/>
          </a:prstGeom>
          <a:ln w="15875">
            <a:solidFill>
              <a:srgbClr val="2DB87D"/>
            </a:solidFill>
            <a:headEnd type="oval" w="med" len="med"/>
          </a:ln>
        </p:spPr>
      </p:cxnSp>
      <p:cxnSp>
        <p:nvCxnSpPr>
          <p:cNvPr id="137" name="Línea 137"/>
          <p:cNvCxnSpPr/>
          <p:nvPr/>
        </p:nvCxnSpPr>
        <p:spPr>
          <a:xfrm flipH="1">
            <a:off x="8000000" y="4100000"/>
            <a:ext cx="110000" cy="0"/>
          </a:xfrm>
          <a:prstGeom prst="line">
            <a:avLst/>
          </a:prstGeom>
          <a:ln w="15875">
            <a:solidFill>
              <a:srgbClr val="2DB87D"/>
            </a:solidFill>
            <a:tailEnd type="oval" w="med" len="med"/>
          </a:ln>
        </p:spPr>
      </p:cxnSp>
      <p:cxnSp>
        <p:nvCxnSpPr>
          <p:cNvPr id="138" name="Línea 138"/>
          <p:cNvCxnSpPr/>
          <p:nvPr/>
        </p:nvCxnSpPr>
        <p:spPr>
          <a:xfrm flipV="1">
            <a:off x="7020000" y="5000000"/>
            <a:ext cx="219999" cy="926884"/>
          </a:xfrm>
          <a:prstGeom prst="line">
            <a:avLst/>
          </a:prstGeom>
          <a:ln w="15875">
            <a:solidFill>
              <a:srgbClr val="3D5A80"/>
            </a:solidFill>
            <a:headEnd type="oval" w="med" len="med"/>
          </a:ln>
        </p:spPr>
      </p:cxnSp>
      <p:cxnSp>
        <p:nvCxnSpPr>
          <p:cNvPr id="139" name="Línea 139"/>
          <p:cNvCxnSpPr/>
          <p:nvPr/>
        </p:nvCxnSpPr>
        <p:spPr>
          <a:xfrm>
            <a:off x="7239999" y="5000000"/>
            <a:ext cx="760000" cy="0"/>
          </a:xfrm>
          <a:prstGeom prst="line">
            <a:avLst/>
          </a:prstGeom>
          <a:ln w="15875">
            <a:solidFill>
              <a:srgbClr val="3D5A80"/>
            </a:solidFill>
            <a:tailEnd type="oval" w="med" len="med"/>
          </a:ln>
        </p:spPr>
      </p:cxnSp>
      <p:sp>
        <p:nvSpPr>
          <p:cNvPr id="140" name="Forma 140"/>
          <p:cNvSpPr/>
          <p:nvPr/>
        </p:nvSpPr>
        <p:spPr>
          <a:xfrm>
            <a:off x="4450865" y="2693806"/>
            <a:ext cx="3360000" cy="3360000"/>
          </a:xfrm>
          <a:prstGeom prst="pie">
            <a:avLst>
              <a:gd name="adj1" fmla="val 13500000"/>
              <a:gd name="adj2" fmla="val 16200000"/>
            </a:avLst>
          </a:prstGeom>
          <a:gradFill rotWithShape="1">
            <a:gsLst>
              <a:gs pos="0">
                <a:srgbClr val="E9566A"/>
              </a:gs>
              <a:gs pos="100000">
                <a:srgbClr val="E63950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1" name="Imagen 1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106" y="3122475"/>
            <a:ext cx="360000" cy="360000"/>
          </a:xfrm>
          <a:prstGeom prst="rect">
            <a:avLst/>
          </a:prstGeom>
        </p:spPr>
      </p:pic>
      <p:sp>
        <p:nvSpPr>
          <p:cNvPr id="142" name="Forma 142"/>
          <p:cNvSpPr/>
          <p:nvPr/>
        </p:nvSpPr>
        <p:spPr>
          <a:xfrm>
            <a:off x="4423806" y="2720865"/>
            <a:ext cx="3360000" cy="3360000"/>
          </a:xfrm>
          <a:prstGeom prst="pie">
            <a:avLst>
              <a:gd name="adj1" fmla="val 10800000"/>
              <a:gd name="adj2" fmla="val 13500000"/>
            </a:avLst>
          </a:prstGeom>
          <a:gradFill rotWithShape="1">
            <a:gsLst>
              <a:gs pos="0">
                <a:srgbClr val="F68F4A"/>
              </a:gs>
              <a:gs pos="100000">
                <a:srgbClr val="F57C2B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3" name="Imagen 1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75" y="3777106"/>
            <a:ext cx="360000" cy="360000"/>
          </a:xfrm>
          <a:prstGeom prst="rect">
            <a:avLst/>
          </a:prstGeom>
        </p:spPr>
      </p:pic>
      <p:sp>
        <p:nvSpPr>
          <p:cNvPr id="144" name="Forma 144"/>
          <p:cNvSpPr/>
          <p:nvPr/>
        </p:nvSpPr>
        <p:spPr>
          <a:xfrm>
            <a:off x="4423806" y="2759134"/>
            <a:ext cx="3360000" cy="3360000"/>
          </a:xfrm>
          <a:prstGeom prst="pie">
            <a:avLst>
              <a:gd name="adj1" fmla="val 8100000"/>
              <a:gd name="adj2" fmla="val 10800000"/>
            </a:avLst>
          </a:prstGeom>
          <a:gradFill rotWithShape="1">
            <a:gsLst>
              <a:gs pos="0">
                <a:srgbClr val="F8BE4A"/>
              </a:gs>
              <a:gs pos="100000">
                <a:srgbClr val="F7B32B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5" name="Imagen 1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475" y="4702893"/>
            <a:ext cx="360000" cy="360000"/>
          </a:xfrm>
          <a:prstGeom prst="rect">
            <a:avLst/>
          </a:prstGeom>
        </p:spPr>
      </p:pic>
      <p:sp>
        <p:nvSpPr>
          <p:cNvPr id="146" name="Forma 146"/>
          <p:cNvSpPr/>
          <p:nvPr/>
        </p:nvSpPr>
        <p:spPr>
          <a:xfrm>
            <a:off x="4450865" y="2786193"/>
            <a:ext cx="3360000" cy="3360000"/>
          </a:xfrm>
          <a:prstGeom prst="pie">
            <a:avLst>
              <a:gd name="adj1" fmla="val 5400000"/>
              <a:gd name="adj2" fmla="val 8100000"/>
            </a:avLst>
          </a:prstGeom>
          <a:gradFill rotWithShape="1">
            <a:gsLst>
              <a:gs pos="0">
                <a:srgbClr val="8E66B3"/>
              </a:gs>
              <a:gs pos="100000">
                <a:srgbClr val="7B4BA6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7" name="Imagen 1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106" y="5357524"/>
            <a:ext cx="360000" cy="360000"/>
          </a:xfrm>
          <a:prstGeom prst="rect">
            <a:avLst/>
          </a:prstGeom>
        </p:spPr>
      </p:pic>
      <p:sp>
        <p:nvSpPr>
          <p:cNvPr id="148" name="Forma 148"/>
          <p:cNvSpPr/>
          <p:nvPr/>
        </p:nvSpPr>
        <p:spPr>
          <a:xfrm>
            <a:off x="4495000" y="2696698"/>
            <a:ext cx="3360000" cy="3360000"/>
          </a:xfrm>
          <a:prstGeom prst="pie">
            <a:avLst>
              <a:gd name="adj1" fmla="val 16200000"/>
              <a:gd name="adj2" fmla="val 19800000"/>
            </a:avLst>
          </a:prstGeom>
          <a:gradFill rotWithShape="1">
            <a:gsLst>
              <a:gs pos="0">
                <a:srgbClr val="3CB3C1"/>
              </a:gs>
              <a:gs pos="100000">
                <a:srgbClr val="1AA6B7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9" name="Imagen 1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800" y="3192455"/>
            <a:ext cx="360000" cy="360000"/>
          </a:xfrm>
          <a:prstGeom prst="rect">
            <a:avLst/>
          </a:prstGeom>
        </p:spPr>
      </p:pic>
      <p:sp>
        <p:nvSpPr>
          <p:cNvPr id="150" name="Forma 150"/>
          <p:cNvSpPr/>
          <p:nvPr/>
        </p:nvSpPr>
        <p:spPr>
          <a:xfrm>
            <a:off x="4520000" y="2740000"/>
            <a:ext cx="3360000" cy="3360000"/>
          </a:xfrm>
          <a:prstGeom prst="pie">
            <a:avLst>
              <a:gd name="adj1" fmla="val 19800000"/>
              <a:gd name="adj2" fmla="val 1800000"/>
            </a:avLst>
          </a:prstGeom>
          <a:gradFill rotWithShape="1">
            <a:gsLst>
              <a:gs pos="0">
                <a:srgbClr val="4CC290"/>
              </a:gs>
              <a:gs pos="100000">
                <a:srgbClr val="2DB87D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1" name="Imagen 15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9600" y="4240000"/>
            <a:ext cx="360000" cy="360000"/>
          </a:xfrm>
          <a:prstGeom prst="rect">
            <a:avLst/>
          </a:prstGeom>
        </p:spPr>
      </p:pic>
      <p:sp>
        <p:nvSpPr>
          <p:cNvPr id="152" name="Forma 152"/>
          <p:cNvSpPr/>
          <p:nvPr/>
        </p:nvSpPr>
        <p:spPr>
          <a:xfrm>
            <a:off x="4495000" y="2783301"/>
            <a:ext cx="3360000" cy="3360000"/>
          </a:xfrm>
          <a:prstGeom prst="pie">
            <a:avLst>
              <a:gd name="adj1" fmla="val 1800000"/>
              <a:gd name="adj2" fmla="val 5400000"/>
            </a:avLst>
          </a:prstGeom>
          <a:gradFill rotWithShape="1">
            <a:gsLst>
              <a:gs pos="0">
                <a:srgbClr val="5A7293"/>
              </a:gs>
              <a:gs pos="100000">
                <a:srgbClr val="3D5A80"/>
              </a:gs>
            </a:gsLst>
            <a:lin ang="5400000" scaled="0"/>
          </a:gra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3" name="Imagen 1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800" y="5287544"/>
            <a:ext cx="360000" cy="360000"/>
          </a:xfrm>
          <a:prstGeom prst="rect">
            <a:avLst/>
          </a:prstGeom>
        </p:spPr>
      </p:pic>
      <p:sp>
        <p:nvSpPr>
          <p:cNvPr id="154" name="Forma 154"/>
          <p:cNvSpPr/>
          <p:nvPr/>
        </p:nvSpPr>
        <p:spPr>
          <a:xfrm>
            <a:off x="5330000" y="3600000"/>
            <a:ext cx="1640000" cy="164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5" name="Imagen 15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0000" y="3909999"/>
            <a:ext cx="460000" cy="460000"/>
          </a:xfrm>
          <a:prstGeom prst="rect">
            <a:avLst/>
          </a:prstGeom>
        </p:spPr>
      </p:pic>
      <p:sp>
        <p:nvSpPr>
          <p:cNvPr id="156" name="Texto 156"/>
          <p:cNvSpPr txBox="1"/>
          <p:nvPr/>
        </p:nvSpPr>
        <p:spPr>
          <a:xfrm>
            <a:off x="5350000" y="4420000"/>
            <a:ext cx="16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dirty="0">
                <a:solidFill>
                  <a:srgbClr val="2B2D42"/>
                </a:solidFill>
                <a:latin typeface="Arial"/>
                <a:cs typeface="Arial"/>
              </a:rPr>
              <a:t>GLOSAS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8D93A5"/>
                </a:solidFill>
                <a:latin typeface="Arial"/>
                <a:cs typeface="Arial"/>
              </a:rPr>
              <a:t>el problema</a:t>
            </a:r>
          </a:p>
        </p:txBody>
      </p:sp>
      <p:sp>
        <p:nvSpPr>
          <p:cNvPr id="157" name="Forma 157"/>
          <p:cNvSpPr/>
          <p:nvPr/>
        </p:nvSpPr>
        <p:spPr>
          <a:xfrm>
            <a:off x="850000" y="2610000"/>
            <a:ext cx="3450000" cy="7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8" name="Forma 158"/>
          <p:cNvSpPr/>
          <p:nvPr/>
        </p:nvSpPr>
        <p:spPr>
          <a:xfrm>
            <a:off x="889000" y="2649000"/>
            <a:ext cx="702000" cy="70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9" name="Forma 159"/>
          <p:cNvSpPr/>
          <p:nvPr/>
        </p:nvSpPr>
        <p:spPr>
          <a:xfrm>
            <a:off x="889000" y="2649000"/>
            <a:ext cx="702000" cy="702000"/>
          </a:xfrm>
          <a:prstGeom prst="blockArc">
            <a:avLst>
              <a:gd name="adj1" fmla="val 0"/>
              <a:gd name="adj2" fmla="val 21594000"/>
              <a:gd name="adj3" fmla="val 11000"/>
            </a:avLst>
          </a:prstGeom>
          <a:solidFill>
            <a:srgbClr val="E6395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0" name="Texto 160"/>
          <p:cNvSpPr txBox="1"/>
          <p:nvPr/>
        </p:nvSpPr>
        <p:spPr>
          <a:xfrm>
            <a:off x="889000" y="2649000"/>
            <a:ext cx="702000" cy="702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E63950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61" name="Texto 161"/>
          <p:cNvSpPr txBox="1"/>
          <p:nvPr/>
        </p:nvSpPr>
        <p:spPr>
          <a:xfrm>
            <a:off x="1690000" y="2610000"/>
            <a:ext cx="2449999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E63950"/>
                </a:solidFill>
                <a:latin typeface="Arial"/>
                <a:cs typeface="Arial"/>
              </a:rPr>
              <a:t>CODIFICACIÓN MANUAL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4A4E5A"/>
                </a:solidFill>
                <a:latin typeface="Arial"/>
                <a:cs typeface="Arial"/>
              </a:rPr>
              <a:t>18,4 % de diagnósticos mal asignados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Correa et al. (2022)</a:t>
            </a:r>
          </a:p>
        </p:txBody>
      </p:sp>
      <p:sp>
        <p:nvSpPr>
          <p:cNvPr id="162" name="Forma 162"/>
          <p:cNvSpPr/>
          <p:nvPr/>
        </p:nvSpPr>
        <p:spPr>
          <a:xfrm>
            <a:off x="850000" y="3460000"/>
            <a:ext cx="3450000" cy="7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3" name="Forma 163"/>
          <p:cNvSpPr/>
          <p:nvPr/>
        </p:nvSpPr>
        <p:spPr>
          <a:xfrm>
            <a:off x="889000" y="3499000"/>
            <a:ext cx="702000" cy="70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4" name="Forma 164"/>
          <p:cNvSpPr/>
          <p:nvPr/>
        </p:nvSpPr>
        <p:spPr>
          <a:xfrm>
            <a:off x="889000" y="3499000"/>
            <a:ext cx="702000" cy="702000"/>
          </a:xfrm>
          <a:prstGeom prst="blockArc">
            <a:avLst>
              <a:gd name="adj1" fmla="val 0"/>
              <a:gd name="adj2" fmla="val 21594000"/>
              <a:gd name="adj3" fmla="val 11000"/>
            </a:avLst>
          </a:prstGeom>
          <a:solidFill>
            <a:srgbClr val="F57C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5" name="Texto 165"/>
          <p:cNvSpPr txBox="1"/>
          <p:nvPr/>
        </p:nvSpPr>
        <p:spPr>
          <a:xfrm>
            <a:off x="889000" y="3499000"/>
            <a:ext cx="702000" cy="702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F57C2B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66" name="Texto 166"/>
          <p:cNvSpPr txBox="1"/>
          <p:nvPr/>
        </p:nvSpPr>
        <p:spPr>
          <a:xfrm>
            <a:off x="1690000" y="3460000"/>
            <a:ext cx="2449999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F57C2B"/>
                </a:solidFill>
                <a:latin typeface="Arial"/>
                <a:cs typeface="Arial"/>
              </a:rPr>
              <a:t>AUDITORÍA MANUAL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4A4E5A"/>
                </a:solidFill>
                <a:latin typeface="Arial"/>
                <a:cs typeface="Arial"/>
              </a:rPr>
              <a:t>factor humano y falta de capacitación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Pasichaná Ramos et al. (2025)</a:t>
            </a:r>
          </a:p>
        </p:txBody>
      </p:sp>
      <p:sp>
        <p:nvSpPr>
          <p:cNvPr id="167" name="Forma 167"/>
          <p:cNvSpPr/>
          <p:nvPr/>
        </p:nvSpPr>
        <p:spPr>
          <a:xfrm>
            <a:off x="850000" y="4310000"/>
            <a:ext cx="3450000" cy="7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8" name="Forma 168"/>
          <p:cNvSpPr/>
          <p:nvPr/>
        </p:nvSpPr>
        <p:spPr>
          <a:xfrm>
            <a:off x="889000" y="4349000"/>
            <a:ext cx="702000" cy="70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9" name="Forma 169"/>
          <p:cNvSpPr/>
          <p:nvPr/>
        </p:nvSpPr>
        <p:spPr>
          <a:xfrm>
            <a:off x="889000" y="4349000"/>
            <a:ext cx="702000" cy="702000"/>
          </a:xfrm>
          <a:prstGeom prst="blockArc">
            <a:avLst>
              <a:gd name="adj1" fmla="val 0"/>
              <a:gd name="adj2" fmla="val 21594000"/>
              <a:gd name="adj3" fmla="val 11000"/>
            </a:avLst>
          </a:prstGeom>
          <a:solidFill>
            <a:srgbClr val="F7B32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0" name="Texto 170"/>
          <p:cNvSpPr txBox="1"/>
          <p:nvPr/>
        </p:nvSpPr>
        <p:spPr>
          <a:xfrm>
            <a:off x="889000" y="4349000"/>
            <a:ext cx="702000" cy="702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D18E0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71" name="Texto 171"/>
          <p:cNvSpPr txBox="1"/>
          <p:nvPr/>
        </p:nvSpPr>
        <p:spPr>
          <a:xfrm>
            <a:off x="1690000" y="4310000"/>
            <a:ext cx="2449999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D18E0F"/>
                </a:solidFill>
                <a:latin typeface="Arial"/>
                <a:cs typeface="Arial"/>
              </a:rPr>
              <a:t>POCOS DATOS POR IPS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4A4E5A"/>
                </a:solidFill>
                <a:latin typeface="Arial"/>
                <a:cs typeface="Arial"/>
              </a:rPr>
              <a:t>no puede juntarlos con otras sin riesgo legal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Brauneck et al. (2023); Khalid et al. (2026)</a:t>
            </a:r>
          </a:p>
        </p:txBody>
      </p:sp>
      <p:sp>
        <p:nvSpPr>
          <p:cNvPr id="172" name="Forma 172"/>
          <p:cNvSpPr/>
          <p:nvPr/>
        </p:nvSpPr>
        <p:spPr>
          <a:xfrm>
            <a:off x="850000" y="5160000"/>
            <a:ext cx="3450000" cy="7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3" name="Forma 173"/>
          <p:cNvSpPr/>
          <p:nvPr/>
        </p:nvSpPr>
        <p:spPr>
          <a:xfrm>
            <a:off x="889000" y="5199000"/>
            <a:ext cx="702000" cy="70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4" name="Forma 174"/>
          <p:cNvSpPr/>
          <p:nvPr/>
        </p:nvSpPr>
        <p:spPr>
          <a:xfrm>
            <a:off x="889000" y="5199000"/>
            <a:ext cx="702000" cy="702000"/>
          </a:xfrm>
          <a:prstGeom prst="blockArc">
            <a:avLst>
              <a:gd name="adj1" fmla="val 0"/>
              <a:gd name="adj2" fmla="val 21594000"/>
              <a:gd name="adj3" fmla="val 11000"/>
            </a:avLst>
          </a:prstGeom>
          <a:solidFill>
            <a:srgbClr val="7B4BA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5" name="Texto 175"/>
          <p:cNvSpPr txBox="1"/>
          <p:nvPr/>
        </p:nvSpPr>
        <p:spPr>
          <a:xfrm>
            <a:off x="889000" y="5199000"/>
            <a:ext cx="702000" cy="702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7B4BA6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76" name="Texto 176"/>
          <p:cNvSpPr txBox="1"/>
          <p:nvPr/>
        </p:nvSpPr>
        <p:spPr>
          <a:xfrm>
            <a:off x="1690000" y="5160000"/>
            <a:ext cx="2449999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7B4BA6"/>
                </a:solidFill>
                <a:latin typeface="Arial"/>
                <a:cs typeface="Arial"/>
              </a:rPr>
              <a:t>LLM GENERALES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4A4E5A"/>
                </a:solidFill>
                <a:latin typeface="Arial"/>
                <a:cs typeface="Arial"/>
              </a:rPr>
              <a:t>GPT-4 acierta solo el 33,9 % en CIE-10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Soroush et al. (2024)</a:t>
            </a:r>
          </a:p>
        </p:txBody>
      </p:sp>
      <p:sp>
        <p:nvSpPr>
          <p:cNvPr id="177" name="Forma 177"/>
          <p:cNvSpPr/>
          <p:nvPr/>
        </p:nvSpPr>
        <p:spPr>
          <a:xfrm>
            <a:off x="8000000" y="2810000"/>
            <a:ext cx="3450000" cy="7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8" name="Forma 178"/>
          <p:cNvSpPr/>
          <p:nvPr/>
        </p:nvSpPr>
        <p:spPr>
          <a:xfrm>
            <a:off x="8039000" y="2849000"/>
            <a:ext cx="702000" cy="70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9" name="Forma 179"/>
          <p:cNvSpPr/>
          <p:nvPr/>
        </p:nvSpPr>
        <p:spPr>
          <a:xfrm>
            <a:off x="8039000" y="2849000"/>
            <a:ext cx="702000" cy="702000"/>
          </a:xfrm>
          <a:prstGeom prst="blockArc">
            <a:avLst>
              <a:gd name="adj1" fmla="val 0"/>
              <a:gd name="adj2" fmla="val 21594000"/>
              <a:gd name="adj3" fmla="val 11000"/>
            </a:avLst>
          </a:prstGeom>
          <a:solidFill>
            <a:srgbClr val="1AA6B7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80" name="Texto 180"/>
          <p:cNvSpPr txBox="1"/>
          <p:nvPr/>
        </p:nvSpPr>
        <p:spPr>
          <a:xfrm>
            <a:off x="8039000" y="2849000"/>
            <a:ext cx="702000" cy="702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1AA6B7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81" name="Texto 181"/>
          <p:cNvSpPr txBox="1"/>
          <p:nvPr/>
        </p:nvSpPr>
        <p:spPr>
          <a:xfrm>
            <a:off x="8840000" y="2810000"/>
            <a:ext cx="2449999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1AA6B7"/>
                </a:solidFill>
                <a:latin typeface="Arial"/>
                <a:cs typeface="Arial"/>
              </a:rPr>
              <a:t>≈ 30 % DEVUELTO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4A4E5A"/>
                </a:solidFill>
                <a:latin typeface="Arial"/>
                <a:cs typeface="Arial"/>
              </a:rPr>
              <a:t>de lo facturado, en algunos estudios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Pasichaná Ramos et al. (2025)</a:t>
            </a:r>
          </a:p>
        </p:txBody>
      </p:sp>
      <p:sp>
        <p:nvSpPr>
          <p:cNvPr id="182" name="Forma 182"/>
          <p:cNvSpPr/>
          <p:nvPr/>
        </p:nvSpPr>
        <p:spPr>
          <a:xfrm>
            <a:off x="8000000" y="3710000"/>
            <a:ext cx="3450000" cy="7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3" name="Forma 183"/>
          <p:cNvSpPr/>
          <p:nvPr/>
        </p:nvSpPr>
        <p:spPr>
          <a:xfrm>
            <a:off x="8039000" y="3749000"/>
            <a:ext cx="702000" cy="70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4" name="Forma 184"/>
          <p:cNvSpPr/>
          <p:nvPr/>
        </p:nvSpPr>
        <p:spPr>
          <a:xfrm>
            <a:off x="8039000" y="3749000"/>
            <a:ext cx="702000" cy="702000"/>
          </a:xfrm>
          <a:prstGeom prst="blockArc">
            <a:avLst>
              <a:gd name="adj1" fmla="val 0"/>
              <a:gd name="adj2" fmla="val 21594000"/>
              <a:gd name="adj3" fmla="val 11000"/>
            </a:avLst>
          </a:prstGeom>
          <a:solidFill>
            <a:srgbClr val="2DB87D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85" name="Texto 185"/>
          <p:cNvSpPr txBox="1"/>
          <p:nvPr/>
        </p:nvSpPr>
        <p:spPr>
          <a:xfrm>
            <a:off x="8039000" y="3749000"/>
            <a:ext cx="702000" cy="702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2DB87D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86" name="Texto 186"/>
          <p:cNvSpPr txBox="1"/>
          <p:nvPr/>
        </p:nvSpPr>
        <p:spPr>
          <a:xfrm>
            <a:off x="8840000" y="3710000"/>
            <a:ext cx="2449999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2DB87D"/>
                </a:solidFill>
                <a:latin typeface="Arial"/>
                <a:cs typeface="Arial"/>
              </a:rPr>
              <a:t>$869 M EN GLOSAS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4A4E5A"/>
                </a:solidFill>
                <a:latin typeface="Arial"/>
                <a:cs typeface="Arial"/>
              </a:rPr>
              <a:t>en una sola IPS, a noviembre de 2019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González Jiménez y Novoa Vargas (2023)</a:t>
            </a:r>
          </a:p>
        </p:txBody>
      </p:sp>
      <p:sp>
        <p:nvSpPr>
          <p:cNvPr id="187" name="Forma 187"/>
          <p:cNvSpPr/>
          <p:nvPr/>
        </p:nvSpPr>
        <p:spPr>
          <a:xfrm>
            <a:off x="8000000" y="4610000"/>
            <a:ext cx="3450000" cy="7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8" name="Forma 188"/>
          <p:cNvSpPr/>
          <p:nvPr/>
        </p:nvSpPr>
        <p:spPr>
          <a:xfrm>
            <a:off x="8039000" y="4649000"/>
            <a:ext cx="702000" cy="702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88900" dist="25400" dir="5400000" algn="t" rotWithShape="0">
              <a:srgbClr val="1F2433">
                <a:alpha val="2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9" name="Forma 189"/>
          <p:cNvSpPr/>
          <p:nvPr/>
        </p:nvSpPr>
        <p:spPr>
          <a:xfrm>
            <a:off x="8039000" y="4649000"/>
            <a:ext cx="702000" cy="702000"/>
          </a:xfrm>
          <a:prstGeom prst="blockArc">
            <a:avLst>
              <a:gd name="adj1" fmla="val 0"/>
              <a:gd name="adj2" fmla="val 21594000"/>
              <a:gd name="adj3" fmla="val 11000"/>
            </a:avLst>
          </a:prstGeom>
          <a:solidFill>
            <a:srgbClr val="3D5A8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90" name="Texto 190"/>
          <p:cNvSpPr txBox="1"/>
          <p:nvPr/>
        </p:nvSpPr>
        <p:spPr>
          <a:xfrm>
            <a:off x="8039000" y="4649000"/>
            <a:ext cx="702000" cy="702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dirty="0">
                <a:solidFill>
                  <a:srgbClr val="3D5A80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91" name="Texto 191"/>
          <p:cNvSpPr txBox="1"/>
          <p:nvPr/>
        </p:nvSpPr>
        <p:spPr>
          <a:xfrm>
            <a:off x="8840000" y="4610000"/>
            <a:ext cx="2449999" cy="7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ctr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i="0" dirty="0">
                <a:solidFill>
                  <a:srgbClr val="3D5A80"/>
                </a:solidFill>
                <a:latin typeface="Arial"/>
                <a:cs typeface="Arial"/>
              </a:rPr>
              <a:t>MENOS LIQUIDEZ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0" i="0" dirty="0">
                <a:solidFill>
                  <a:srgbClr val="4A4E5A"/>
                </a:solidFill>
                <a:latin typeface="Arial"/>
                <a:cs typeface="Arial"/>
              </a:rPr>
              <a:t>cartera de difícil recaudo</a:t>
            </a:r>
          </a:p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50" b="0" i="1" dirty="0">
                <a:solidFill>
                  <a:srgbClr val="8D93A5"/>
                </a:solidFill>
                <a:latin typeface="Arial"/>
                <a:cs typeface="Arial"/>
              </a:rPr>
              <a:t>Pasichaná Ramos et al. (2025)</a:t>
            </a:r>
          </a:p>
        </p:txBody>
      </p:sp>
      <p:sp>
        <p:nvSpPr>
          <p:cNvPr id="192" name="Texto 192"/>
          <p:cNvSpPr txBox="1"/>
          <p:nvPr/>
        </p:nvSpPr>
        <p:spPr>
          <a:xfrm>
            <a:off x="837475" y="6323805"/>
            <a:ext cx="87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rtlCol="0" anchor="t">
            <a:noAutofit/>
          </a:bodyPr>
          <a:lstStyle/>
          <a:p>
            <a:pPr marL="0" indent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i="0" dirty="0">
                <a:solidFill>
                  <a:srgbClr val="0070C0"/>
                </a:solidFill>
                <a:latin typeface="Arial"/>
                <a:cs typeface="Arial"/>
              </a:rPr>
              <a:t>Fuentes del estado del arte: </a:t>
            </a:r>
            <a:r>
              <a:rPr lang="es-CO" sz="900" i="1" dirty="0">
                <a:solidFill>
                  <a:srgbClr val="0070C0"/>
                </a:solidFill>
                <a:latin typeface="Arial"/>
                <a:cs typeface="Arial"/>
              </a:rPr>
              <a:t>Correa et al. (2022), Revista Médica de Chile · Pasichaná Ramos et al. (2025), Excelsium Scientia · Brauneck et al. (2023), Journal of Medical Internet Research · Khalid et al. (2026), Journal of Medical Systems · Soroush et al. (2024), NEJM AI · González Jiménez y Novoa Vargas (2023), Revista CIFE · Bermúdez Loaiza y Villalba Taborda (2024), Ad-Gnosis · Resolución 2284 de 2023.</a:t>
            </a:r>
          </a:p>
        </p:txBody>
      </p:sp>
    </p:spTree>
    <p:extLst>
      <p:ext uri="{BB962C8B-B14F-4D97-AF65-F5344CB8AC3E}">
        <p14:creationId xmlns:p14="http://schemas.microsoft.com/office/powerpoint/2010/main" val="378065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1514</TotalTime>
  <Words>1419</Words>
  <Application>Microsoft Office PowerPoint</Application>
  <PresentationFormat>Panorámica</PresentationFormat>
  <Paragraphs>176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Tomas Eduardo Quiroz Lpez</dc:creator>
  <cp:lastModifiedBy>CRISTAL ARIZA MARTINEZ</cp:lastModifiedBy>
  <cp:revision>119</cp:revision>
  <dcterms:created xsi:type="dcterms:W3CDTF">2022-03-18T09:58:39Z</dcterms:created>
  <dcterms:modified xsi:type="dcterms:W3CDTF">2026-10-28T05:26:48Z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2022-03-18T00:00:00Z</vt:filetime>
  </property>
</Properties>
</file>